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el título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Texto del título</a:t>
            </a:r>
          </a:p>
        </p:txBody>
      </p:sp>
      <p:sp>
        <p:nvSpPr>
          <p:cNvPr id="3" name="Nivel de texto 1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4" name="Número de diapositiva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 txBox="1"/>
          <p:nvPr/>
        </p:nvSpPr>
        <p:spPr>
          <a:xfrm>
            <a:off x="4206240" y="869560"/>
            <a:ext cx="731521" cy="793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+</a:t>
            </a:r>
          </a:p>
        </p:txBody>
      </p:sp>
      <p:sp>
        <p:nvSpPr>
          <p:cNvPr id="21" name="Text 1"/>
          <p:cNvSpPr txBox="1"/>
          <p:nvPr/>
        </p:nvSpPr>
        <p:spPr>
          <a:xfrm>
            <a:off x="548640" y="1759877"/>
            <a:ext cx="8046720" cy="110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36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Sistema Inteligente de Soporte Hospitalario</a:t>
            </a:r>
          </a:p>
        </p:txBody>
      </p:sp>
      <p:sp>
        <p:nvSpPr>
          <p:cNvPr id="22" name="Shape 2"/>
          <p:cNvSpPr/>
          <p:nvPr/>
        </p:nvSpPr>
        <p:spPr>
          <a:xfrm>
            <a:off x="3474720" y="2970414"/>
            <a:ext cx="2194561" cy="1"/>
          </a:xfrm>
          <a:prstGeom prst="line">
            <a:avLst/>
          </a:prstGeom>
          <a:ln w="1905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" name="Text 3"/>
          <p:cNvSpPr txBox="1"/>
          <p:nvPr/>
        </p:nvSpPr>
        <p:spPr>
          <a:xfrm>
            <a:off x="548640" y="3160711"/>
            <a:ext cx="8046720" cy="222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Roger Jové Tusell y Teo Aranda Páez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ÍNDICE</a:t>
            </a:r>
          </a:p>
        </p:txBody>
      </p:sp>
      <p:sp>
        <p:nvSpPr>
          <p:cNvPr id="26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7" name="Text 2"/>
          <p:cNvSpPr txBox="1"/>
          <p:nvPr/>
        </p:nvSpPr>
        <p:spPr>
          <a:xfrm>
            <a:off x="411479" y="436284"/>
            <a:ext cx="8321042" cy="508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Contenido</a:t>
            </a:r>
          </a:p>
        </p:txBody>
      </p:sp>
      <p:sp>
        <p:nvSpPr>
          <p:cNvPr id="28" name="Shape 3"/>
          <p:cNvSpPr/>
          <p:nvPr/>
        </p:nvSpPr>
        <p:spPr>
          <a:xfrm>
            <a:off x="457200" y="987552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4"/>
          <p:cNvSpPr txBox="1"/>
          <p:nvPr/>
        </p:nvSpPr>
        <p:spPr>
          <a:xfrm>
            <a:off x="502920" y="1295254"/>
            <a:ext cx="3840480" cy="198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1</a:t>
            </a:r>
            <a:r>
              <a:rPr b="0">
                <a:solidFill>
                  <a:srgbClr val="1D1D1F"/>
                </a:solidFill>
              </a:rPr>
              <a:t>   Descripción del problema</a:t>
            </a:r>
          </a:p>
        </p:txBody>
      </p:sp>
      <p:sp>
        <p:nvSpPr>
          <p:cNvPr id="30" name="Shape 5"/>
          <p:cNvSpPr/>
          <p:nvPr/>
        </p:nvSpPr>
        <p:spPr>
          <a:xfrm>
            <a:off x="502920" y="1627632"/>
            <a:ext cx="384048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Text 6"/>
          <p:cNvSpPr txBox="1"/>
          <p:nvPr/>
        </p:nvSpPr>
        <p:spPr>
          <a:xfrm>
            <a:off x="502920" y="1962765"/>
            <a:ext cx="3840480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2</a:t>
            </a:r>
            <a:r>
              <a:rPr b="0">
                <a:solidFill>
                  <a:srgbClr val="1D1D1F"/>
                </a:solidFill>
              </a:rPr>
              <a:t>   Datos</a:t>
            </a:r>
          </a:p>
        </p:txBody>
      </p:sp>
      <p:sp>
        <p:nvSpPr>
          <p:cNvPr id="32" name="Shape 7"/>
          <p:cNvSpPr/>
          <p:nvPr/>
        </p:nvSpPr>
        <p:spPr>
          <a:xfrm>
            <a:off x="502920" y="2295144"/>
            <a:ext cx="384048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" name="Text 8"/>
          <p:cNvSpPr txBox="1"/>
          <p:nvPr/>
        </p:nvSpPr>
        <p:spPr>
          <a:xfrm>
            <a:off x="502920" y="2630277"/>
            <a:ext cx="3840480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3</a:t>
            </a:r>
            <a:r>
              <a:rPr b="0">
                <a:solidFill>
                  <a:srgbClr val="1D1D1F"/>
                </a:solidFill>
              </a:rPr>
              <a:t>   Arquitectura del sistema</a:t>
            </a:r>
          </a:p>
        </p:txBody>
      </p:sp>
      <p:sp>
        <p:nvSpPr>
          <p:cNvPr id="34" name="Shape 9"/>
          <p:cNvSpPr/>
          <p:nvPr/>
        </p:nvSpPr>
        <p:spPr>
          <a:xfrm>
            <a:off x="502920" y="2962655"/>
            <a:ext cx="384048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" name="Text 10"/>
          <p:cNvSpPr txBox="1"/>
          <p:nvPr/>
        </p:nvSpPr>
        <p:spPr>
          <a:xfrm>
            <a:off x="502920" y="3297789"/>
            <a:ext cx="3840480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4</a:t>
            </a:r>
            <a:r>
              <a:rPr b="0">
                <a:solidFill>
                  <a:srgbClr val="1D1D1F"/>
                </a:solidFill>
              </a:rPr>
              <a:t>   Modelos de IA</a:t>
            </a:r>
          </a:p>
        </p:txBody>
      </p:sp>
      <p:sp>
        <p:nvSpPr>
          <p:cNvPr id="36" name="Shape 11"/>
          <p:cNvSpPr/>
          <p:nvPr/>
        </p:nvSpPr>
        <p:spPr>
          <a:xfrm>
            <a:off x="502920" y="3630167"/>
            <a:ext cx="384048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" name="Text 12"/>
          <p:cNvSpPr txBox="1"/>
          <p:nvPr/>
        </p:nvSpPr>
        <p:spPr>
          <a:xfrm>
            <a:off x="502920" y="3965301"/>
            <a:ext cx="3840480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5</a:t>
            </a:r>
            <a:r>
              <a:rPr b="0">
                <a:solidFill>
                  <a:srgbClr val="1D1D1F"/>
                </a:solidFill>
              </a:rPr>
              <a:t>   Automatizaciones</a:t>
            </a:r>
          </a:p>
        </p:txBody>
      </p:sp>
      <p:sp>
        <p:nvSpPr>
          <p:cNvPr id="38" name="Text 13"/>
          <p:cNvSpPr txBox="1"/>
          <p:nvPr/>
        </p:nvSpPr>
        <p:spPr>
          <a:xfrm>
            <a:off x="4800600" y="1295254"/>
            <a:ext cx="3840480" cy="198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6</a:t>
            </a:r>
            <a:r>
              <a:rPr b="0">
                <a:solidFill>
                  <a:srgbClr val="1D1D1F"/>
                </a:solidFill>
              </a:rPr>
              <a:t>   Integraciones</a:t>
            </a:r>
          </a:p>
        </p:txBody>
      </p:sp>
      <p:sp>
        <p:nvSpPr>
          <p:cNvPr id="39" name="Shape 14"/>
          <p:cNvSpPr/>
          <p:nvPr/>
        </p:nvSpPr>
        <p:spPr>
          <a:xfrm>
            <a:off x="4800600" y="1627632"/>
            <a:ext cx="384048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Text 15"/>
          <p:cNvSpPr txBox="1"/>
          <p:nvPr/>
        </p:nvSpPr>
        <p:spPr>
          <a:xfrm>
            <a:off x="4800600" y="1962765"/>
            <a:ext cx="3840480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7</a:t>
            </a:r>
            <a:r>
              <a:rPr b="0">
                <a:solidFill>
                  <a:srgbClr val="1D1D1F"/>
                </a:solidFill>
              </a:rPr>
              <a:t>   Diario de desarrollo con IA</a:t>
            </a:r>
          </a:p>
        </p:txBody>
      </p:sp>
      <p:sp>
        <p:nvSpPr>
          <p:cNvPr id="41" name="Shape 16"/>
          <p:cNvSpPr/>
          <p:nvPr/>
        </p:nvSpPr>
        <p:spPr>
          <a:xfrm>
            <a:off x="4800600" y="2295144"/>
            <a:ext cx="384048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2" name="Text 17"/>
          <p:cNvSpPr txBox="1"/>
          <p:nvPr/>
        </p:nvSpPr>
        <p:spPr>
          <a:xfrm>
            <a:off x="4800600" y="2630277"/>
            <a:ext cx="3840480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8</a:t>
            </a:r>
            <a:r>
              <a:rPr b="0">
                <a:solidFill>
                  <a:srgbClr val="1D1D1F"/>
                </a:solidFill>
              </a:rPr>
              <a:t>   Justificaciones técnicas</a:t>
            </a:r>
          </a:p>
        </p:txBody>
      </p:sp>
      <p:sp>
        <p:nvSpPr>
          <p:cNvPr id="43" name="Shape 18"/>
          <p:cNvSpPr/>
          <p:nvPr/>
        </p:nvSpPr>
        <p:spPr>
          <a:xfrm>
            <a:off x="4800600" y="2962655"/>
            <a:ext cx="384048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" name="Text 19"/>
          <p:cNvSpPr txBox="1"/>
          <p:nvPr/>
        </p:nvSpPr>
        <p:spPr>
          <a:xfrm>
            <a:off x="4800600" y="3297789"/>
            <a:ext cx="3840480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9</a:t>
            </a:r>
            <a:r>
              <a:rPr b="0">
                <a:solidFill>
                  <a:srgbClr val="1D1D1F"/>
                </a:solidFill>
              </a:rPr>
              <a:t>   Reflexión crítica</a:t>
            </a:r>
          </a:p>
        </p:txBody>
      </p:sp>
      <p:sp>
        <p:nvSpPr>
          <p:cNvPr id="45" name="Shape 20"/>
          <p:cNvSpPr/>
          <p:nvPr/>
        </p:nvSpPr>
        <p:spPr>
          <a:xfrm>
            <a:off x="4800600" y="3630167"/>
            <a:ext cx="384048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21"/>
          <p:cNvSpPr txBox="1"/>
          <p:nvPr/>
        </p:nvSpPr>
        <p:spPr>
          <a:xfrm>
            <a:off x="4800600" y="3965301"/>
            <a:ext cx="3840480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10</a:t>
            </a:r>
            <a:r>
              <a:rPr b="0">
                <a:solidFill>
                  <a:srgbClr val="1D1D1F"/>
                </a:solidFill>
              </a:rPr>
              <a:t>   Consideraciones éticas y legales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 · DESCRIPCIÓN DEL PROBLEMA</a:t>
            </a:r>
          </a:p>
        </p:txBody>
      </p:sp>
      <p:sp>
        <p:nvSpPr>
          <p:cNvPr id="49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50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El problema</a:t>
            </a:r>
          </a:p>
        </p:txBody>
      </p:sp>
      <p:sp>
        <p:nvSpPr>
          <p:cNvPr id="51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Shape 4"/>
          <p:cNvSpPr/>
          <p:nvPr/>
        </p:nvSpPr>
        <p:spPr>
          <a:xfrm>
            <a:off x="411479" y="1143000"/>
            <a:ext cx="3291842" cy="3383280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" name="Text 5"/>
          <p:cNvSpPr txBox="1"/>
          <p:nvPr/>
        </p:nvSpPr>
        <p:spPr>
          <a:xfrm>
            <a:off x="411479" y="1511861"/>
            <a:ext cx="3291842" cy="1091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100s</a:t>
            </a:r>
          </a:p>
        </p:txBody>
      </p:sp>
      <p:sp>
        <p:nvSpPr>
          <p:cNvPr id="54" name="Text 6"/>
          <p:cNvSpPr txBox="1"/>
          <p:nvPr/>
        </p:nvSpPr>
        <p:spPr>
          <a:xfrm>
            <a:off x="411479" y="2726385"/>
            <a:ext cx="3291842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radiografías / día</a:t>
            </a:r>
          </a:p>
        </p:txBody>
      </p:sp>
      <p:sp>
        <p:nvSpPr>
          <p:cNvPr id="55" name="Text 7"/>
          <p:cNvSpPr txBox="1"/>
          <p:nvPr/>
        </p:nvSpPr>
        <p:spPr>
          <a:xfrm>
            <a:off x="411479" y="3089579"/>
            <a:ext cx="3291842" cy="148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Carga real de los radiólogos</a:t>
            </a:r>
          </a:p>
        </p:txBody>
      </p:sp>
      <p:sp>
        <p:nvSpPr>
          <p:cNvPr id="56" name="Shape 8"/>
          <p:cNvSpPr/>
          <p:nvPr/>
        </p:nvSpPr>
        <p:spPr>
          <a:xfrm>
            <a:off x="4114799" y="1481327"/>
            <a:ext cx="91442" cy="91441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" name="Text 9"/>
          <p:cNvSpPr txBox="1"/>
          <p:nvPr/>
        </p:nvSpPr>
        <p:spPr>
          <a:xfrm>
            <a:off x="4315967" y="1560646"/>
            <a:ext cx="4663442" cy="216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Fatiga visual → errores de diagnóstico</a:t>
            </a:r>
          </a:p>
        </p:txBody>
      </p:sp>
      <p:sp>
        <p:nvSpPr>
          <p:cNvPr id="58" name="Shape 10"/>
          <p:cNvSpPr/>
          <p:nvPr/>
        </p:nvSpPr>
        <p:spPr>
          <a:xfrm>
            <a:off x="4114800" y="1920239"/>
            <a:ext cx="457200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Shape 11"/>
          <p:cNvSpPr/>
          <p:nvPr/>
        </p:nvSpPr>
        <p:spPr>
          <a:xfrm>
            <a:off x="4114799" y="2487167"/>
            <a:ext cx="91442" cy="91441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" name="Text 12"/>
          <p:cNvSpPr txBox="1"/>
          <p:nvPr/>
        </p:nvSpPr>
        <p:spPr>
          <a:xfrm>
            <a:off x="4315967" y="2575508"/>
            <a:ext cx="4663442" cy="198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COVID-19 y neumonía requieren detección rápida</a:t>
            </a:r>
          </a:p>
        </p:txBody>
      </p:sp>
      <p:sp>
        <p:nvSpPr>
          <p:cNvPr id="61" name="Shape 13"/>
          <p:cNvSpPr/>
          <p:nvPr/>
        </p:nvSpPr>
        <p:spPr>
          <a:xfrm>
            <a:off x="4114800" y="2926079"/>
            <a:ext cx="4572001" cy="1"/>
          </a:xfrm>
          <a:prstGeom prst="line">
            <a:avLst/>
          </a:prstGeom>
          <a:ln w="381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Shape 14"/>
          <p:cNvSpPr/>
          <p:nvPr/>
        </p:nvSpPr>
        <p:spPr>
          <a:xfrm>
            <a:off x="4114799" y="3493008"/>
            <a:ext cx="91442" cy="91441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3" name="Text 15"/>
          <p:cNvSpPr txBox="1"/>
          <p:nvPr/>
        </p:nvSpPr>
        <p:spPr>
          <a:xfrm>
            <a:off x="4315967" y="3479748"/>
            <a:ext cx="4663442" cy="401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Los hospitales necesitan herramientas de soporte inteligente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 · OBJETIVOS</a:t>
            </a:r>
          </a:p>
        </p:txBody>
      </p:sp>
      <p:sp>
        <p:nvSpPr>
          <p:cNvPr id="66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67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Qué hemos construido</a:t>
            </a:r>
          </a:p>
        </p:txBody>
      </p:sp>
      <p:sp>
        <p:nvSpPr>
          <p:cNvPr id="68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Shape 4"/>
          <p:cNvSpPr/>
          <p:nvPr/>
        </p:nvSpPr>
        <p:spPr>
          <a:xfrm>
            <a:off x="411480" y="1234440"/>
            <a:ext cx="2633473" cy="3383280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" name="Text 5"/>
          <p:cNvSpPr txBox="1"/>
          <p:nvPr/>
        </p:nvSpPr>
        <p:spPr>
          <a:xfrm>
            <a:off x="411480" y="1490979"/>
            <a:ext cx="2633473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8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◉</a:t>
            </a:r>
          </a:p>
        </p:txBody>
      </p:sp>
      <p:sp>
        <p:nvSpPr>
          <p:cNvPr id="71" name="Shape 6"/>
          <p:cNvSpPr/>
          <p:nvPr/>
        </p:nvSpPr>
        <p:spPr>
          <a:xfrm>
            <a:off x="411480" y="1234439"/>
            <a:ext cx="2633473" cy="54865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7"/>
          <p:cNvSpPr txBox="1"/>
          <p:nvPr/>
        </p:nvSpPr>
        <p:spPr>
          <a:xfrm>
            <a:off x="411480" y="2119205"/>
            <a:ext cx="2633473" cy="260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7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Modelo IA</a:t>
            </a:r>
          </a:p>
        </p:txBody>
      </p:sp>
      <p:sp>
        <p:nvSpPr>
          <p:cNvPr id="73" name="Text 8"/>
          <p:cNvSpPr txBox="1"/>
          <p:nvPr/>
        </p:nvSpPr>
        <p:spPr>
          <a:xfrm>
            <a:off x="548639" y="3027273"/>
            <a:ext cx="2359154" cy="529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Clasificación de radiografías en 3 clases:</a:t>
            </a:r>
          </a:p>
          <a:p>
            <a:pPr algn="ctr"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COVID-19 · Neumonía · Normal</a:t>
            </a:r>
          </a:p>
        </p:txBody>
      </p:sp>
      <p:sp>
        <p:nvSpPr>
          <p:cNvPr id="74" name="Shape 9"/>
          <p:cNvSpPr/>
          <p:nvPr/>
        </p:nvSpPr>
        <p:spPr>
          <a:xfrm>
            <a:off x="3218688" y="1234440"/>
            <a:ext cx="2633473" cy="3383280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" name="Text 10"/>
          <p:cNvSpPr txBox="1"/>
          <p:nvPr/>
        </p:nvSpPr>
        <p:spPr>
          <a:xfrm>
            <a:off x="3218688" y="1505825"/>
            <a:ext cx="2633473" cy="325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8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⬡</a:t>
            </a:r>
          </a:p>
        </p:txBody>
      </p:sp>
      <p:sp>
        <p:nvSpPr>
          <p:cNvPr id="76" name="Shape 11"/>
          <p:cNvSpPr/>
          <p:nvPr/>
        </p:nvSpPr>
        <p:spPr>
          <a:xfrm>
            <a:off x="3218688" y="1234439"/>
            <a:ext cx="2633473" cy="54865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7" name="Text 12"/>
          <p:cNvSpPr txBox="1"/>
          <p:nvPr/>
        </p:nvSpPr>
        <p:spPr>
          <a:xfrm>
            <a:off x="3218688" y="2119205"/>
            <a:ext cx="2633473" cy="260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7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Infraestructura</a:t>
            </a:r>
          </a:p>
        </p:txBody>
      </p:sp>
      <p:sp>
        <p:nvSpPr>
          <p:cNvPr id="78" name="Text 13"/>
          <p:cNvSpPr txBox="1"/>
          <p:nvPr/>
        </p:nvSpPr>
        <p:spPr>
          <a:xfrm>
            <a:off x="3355847" y="3027273"/>
            <a:ext cx="2359153" cy="529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Pipeline containerizado con Docker</a:t>
            </a:r>
          </a:p>
          <a:p>
            <a:pPr algn="ctr"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6 servicios · Red interna</a:t>
            </a:r>
          </a:p>
        </p:txBody>
      </p:sp>
      <p:sp>
        <p:nvSpPr>
          <p:cNvPr id="79" name="Shape 14"/>
          <p:cNvSpPr/>
          <p:nvPr/>
        </p:nvSpPr>
        <p:spPr>
          <a:xfrm>
            <a:off x="6025896" y="1234440"/>
            <a:ext cx="2633473" cy="3383280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0" name="Text 15"/>
          <p:cNvSpPr txBox="1"/>
          <p:nvPr/>
        </p:nvSpPr>
        <p:spPr>
          <a:xfrm>
            <a:off x="6025896" y="1505825"/>
            <a:ext cx="2633473" cy="325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8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⊕</a:t>
            </a:r>
          </a:p>
        </p:txBody>
      </p:sp>
      <p:sp>
        <p:nvSpPr>
          <p:cNvPr id="81" name="Shape 16"/>
          <p:cNvSpPr/>
          <p:nvPr/>
        </p:nvSpPr>
        <p:spPr>
          <a:xfrm>
            <a:off x="6025896" y="1234439"/>
            <a:ext cx="2633473" cy="54865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Text 17"/>
          <p:cNvSpPr txBox="1"/>
          <p:nvPr/>
        </p:nvSpPr>
        <p:spPr>
          <a:xfrm>
            <a:off x="6025896" y="2119205"/>
            <a:ext cx="2633473" cy="260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7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Portal Web</a:t>
            </a:r>
          </a:p>
        </p:txBody>
      </p:sp>
      <p:sp>
        <p:nvSpPr>
          <p:cNvPr id="83" name="Text 18"/>
          <p:cNvSpPr txBox="1"/>
          <p:nvPr/>
        </p:nvSpPr>
        <p:spPr>
          <a:xfrm>
            <a:off x="6163055" y="3027273"/>
            <a:ext cx="2359154" cy="529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Acceso seguro para pacientes y médicos</a:t>
            </a:r>
          </a:p>
          <a:p>
            <a:pPr algn="ctr"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Autenticación JWT · Roles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 · DATOS</a:t>
            </a:r>
          </a:p>
        </p:txBody>
      </p:sp>
      <p:sp>
        <p:nvSpPr>
          <p:cNvPr id="86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87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Los datos</a:t>
            </a:r>
          </a:p>
        </p:txBody>
      </p:sp>
      <p:sp>
        <p:nvSpPr>
          <p:cNvPr id="88" name="Text 3"/>
          <p:cNvSpPr txBox="1"/>
          <p:nvPr/>
        </p:nvSpPr>
        <p:spPr>
          <a:xfrm>
            <a:off x="411479" y="1089609"/>
            <a:ext cx="8321042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Chest X-Ray COVID-19 &amp; Pneumonia</a:t>
            </a:r>
          </a:p>
        </p:txBody>
      </p:sp>
      <p:sp>
        <p:nvSpPr>
          <p:cNvPr id="89" name="Shape 4"/>
          <p:cNvSpPr/>
          <p:nvPr/>
        </p:nvSpPr>
        <p:spPr>
          <a:xfrm>
            <a:off x="457200" y="1371600"/>
            <a:ext cx="8229601" cy="0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0" name="Text 5"/>
          <p:cNvSpPr txBox="1"/>
          <p:nvPr/>
        </p:nvSpPr>
        <p:spPr>
          <a:xfrm>
            <a:off x="502919" y="1816419"/>
            <a:ext cx="2633473" cy="756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300</a:t>
            </a:r>
          </a:p>
        </p:txBody>
      </p:sp>
      <p:sp>
        <p:nvSpPr>
          <p:cNvPr id="91" name="Text 6"/>
          <p:cNvSpPr txBox="1"/>
          <p:nvPr/>
        </p:nvSpPr>
        <p:spPr>
          <a:xfrm>
            <a:off x="502919" y="2909265"/>
            <a:ext cx="2633473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imágenes sintéticas</a:t>
            </a:r>
          </a:p>
        </p:txBody>
      </p:sp>
      <p:sp>
        <p:nvSpPr>
          <p:cNvPr id="92" name="Text 7"/>
          <p:cNvSpPr txBox="1"/>
          <p:nvPr/>
        </p:nvSpPr>
        <p:spPr>
          <a:xfrm>
            <a:off x="502919" y="3290747"/>
            <a:ext cx="2633473" cy="148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para desarrollo</a:t>
            </a:r>
          </a:p>
        </p:txBody>
      </p:sp>
      <p:sp>
        <p:nvSpPr>
          <p:cNvPr id="93" name="Shape 8"/>
          <p:cNvSpPr/>
          <p:nvPr/>
        </p:nvSpPr>
        <p:spPr>
          <a:xfrm flipH="1">
            <a:off x="3136392" y="1600200"/>
            <a:ext cx="1" cy="192024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Text 9"/>
          <p:cNvSpPr txBox="1"/>
          <p:nvPr/>
        </p:nvSpPr>
        <p:spPr>
          <a:xfrm>
            <a:off x="3310128" y="1816419"/>
            <a:ext cx="2633473" cy="756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95" name="Text 10"/>
          <p:cNvSpPr txBox="1"/>
          <p:nvPr/>
        </p:nvSpPr>
        <p:spPr>
          <a:xfrm>
            <a:off x="3310128" y="2909265"/>
            <a:ext cx="2633473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clases</a:t>
            </a:r>
          </a:p>
        </p:txBody>
      </p:sp>
      <p:sp>
        <p:nvSpPr>
          <p:cNvPr id="96" name="Text 11"/>
          <p:cNvSpPr txBox="1"/>
          <p:nvPr/>
        </p:nvSpPr>
        <p:spPr>
          <a:xfrm>
            <a:off x="3310128" y="3290747"/>
            <a:ext cx="2633473" cy="148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COVID-19 · Neumonía · Normal</a:t>
            </a:r>
          </a:p>
        </p:txBody>
      </p:sp>
      <p:sp>
        <p:nvSpPr>
          <p:cNvPr id="97" name="Shape 12"/>
          <p:cNvSpPr/>
          <p:nvPr/>
        </p:nvSpPr>
        <p:spPr>
          <a:xfrm>
            <a:off x="5943600" y="1600200"/>
            <a:ext cx="0" cy="192024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ext 13"/>
          <p:cNvSpPr txBox="1"/>
          <p:nvPr/>
        </p:nvSpPr>
        <p:spPr>
          <a:xfrm>
            <a:off x="6117335" y="1816419"/>
            <a:ext cx="2633473" cy="756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70/10/20</a:t>
            </a:r>
          </a:p>
        </p:txBody>
      </p:sp>
      <p:sp>
        <p:nvSpPr>
          <p:cNvPr id="99" name="Text 14"/>
          <p:cNvSpPr txBox="1"/>
          <p:nvPr/>
        </p:nvSpPr>
        <p:spPr>
          <a:xfrm>
            <a:off x="6117335" y="2909265"/>
            <a:ext cx="2633473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split (%)</a:t>
            </a:r>
          </a:p>
        </p:txBody>
      </p:sp>
      <p:sp>
        <p:nvSpPr>
          <p:cNvPr id="100" name="Text 15"/>
          <p:cNvSpPr txBox="1"/>
          <p:nvPr/>
        </p:nvSpPr>
        <p:spPr>
          <a:xfrm>
            <a:off x="6117335" y="3290747"/>
            <a:ext cx="2633473" cy="148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Train · Val · Test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 · DATOS</a:t>
            </a:r>
          </a:p>
        </p:txBody>
      </p:sp>
      <p:sp>
        <p:nvSpPr>
          <p:cNvPr id="103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04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Transformación de datos</a:t>
            </a:r>
          </a:p>
        </p:txBody>
      </p:sp>
      <p:sp>
        <p:nvSpPr>
          <p:cNvPr id="105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6" name="Shape 4"/>
          <p:cNvSpPr/>
          <p:nvPr/>
        </p:nvSpPr>
        <p:spPr>
          <a:xfrm>
            <a:off x="457199" y="1371600"/>
            <a:ext cx="1645922" cy="100583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Text 5"/>
          <p:cNvSpPr txBox="1"/>
          <p:nvPr/>
        </p:nvSpPr>
        <p:spPr>
          <a:xfrm>
            <a:off x="457199" y="1507553"/>
            <a:ext cx="1645922" cy="1487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08" name="Text 6"/>
          <p:cNvSpPr txBox="1"/>
          <p:nvPr/>
        </p:nvSpPr>
        <p:spPr>
          <a:xfrm>
            <a:off x="457199" y="1889614"/>
            <a:ext cx="1645922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Escala gris</a:t>
            </a:r>
          </a:p>
        </p:txBody>
      </p:sp>
      <p:sp>
        <p:nvSpPr>
          <p:cNvPr id="109" name="Text 7"/>
          <p:cNvSpPr txBox="1"/>
          <p:nvPr/>
        </p:nvSpPr>
        <p:spPr>
          <a:xfrm>
            <a:off x="2103120" y="1733041"/>
            <a:ext cx="41148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0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10" name="Shape 8"/>
          <p:cNvSpPr/>
          <p:nvPr/>
        </p:nvSpPr>
        <p:spPr>
          <a:xfrm>
            <a:off x="2514599" y="1371600"/>
            <a:ext cx="1645922" cy="100583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Text 9"/>
          <p:cNvSpPr txBox="1"/>
          <p:nvPr/>
        </p:nvSpPr>
        <p:spPr>
          <a:xfrm>
            <a:off x="2514599" y="1507553"/>
            <a:ext cx="1645922" cy="1487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12" name="Text 10"/>
          <p:cNvSpPr txBox="1"/>
          <p:nvPr/>
        </p:nvSpPr>
        <p:spPr>
          <a:xfrm>
            <a:off x="2514599" y="1889614"/>
            <a:ext cx="1645922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224×224 px</a:t>
            </a:r>
          </a:p>
        </p:txBody>
      </p:sp>
      <p:sp>
        <p:nvSpPr>
          <p:cNvPr id="113" name="Text 11"/>
          <p:cNvSpPr txBox="1"/>
          <p:nvPr/>
        </p:nvSpPr>
        <p:spPr>
          <a:xfrm>
            <a:off x="4160520" y="1733041"/>
            <a:ext cx="41148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0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14" name="Shape 12"/>
          <p:cNvSpPr/>
          <p:nvPr/>
        </p:nvSpPr>
        <p:spPr>
          <a:xfrm>
            <a:off x="4571999" y="1371600"/>
            <a:ext cx="1645922" cy="100583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5" name="Text 13"/>
          <p:cNvSpPr txBox="1"/>
          <p:nvPr/>
        </p:nvSpPr>
        <p:spPr>
          <a:xfrm>
            <a:off x="4571999" y="1507553"/>
            <a:ext cx="1645922" cy="1487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16" name="Text 14"/>
          <p:cNvSpPr txBox="1"/>
          <p:nvPr/>
        </p:nvSpPr>
        <p:spPr>
          <a:xfrm>
            <a:off x="4571999" y="1889614"/>
            <a:ext cx="1645922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Norm. 0–1</a:t>
            </a:r>
          </a:p>
        </p:txBody>
      </p:sp>
      <p:sp>
        <p:nvSpPr>
          <p:cNvPr id="117" name="Text 15"/>
          <p:cNvSpPr txBox="1"/>
          <p:nvPr/>
        </p:nvSpPr>
        <p:spPr>
          <a:xfrm>
            <a:off x="6217920" y="1733041"/>
            <a:ext cx="41148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0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18" name="Shape 16"/>
          <p:cNvSpPr/>
          <p:nvPr/>
        </p:nvSpPr>
        <p:spPr>
          <a:xfrm>
            <a:off x="6629399" y="1371600"/>
            <a:ext cx="1645922" cy="100583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9" name="Text 17"/>
          <p:cNvSpPr txBox="1"/>
          <p:nvPr/>
        </p:nvSpPr>
        <p:spPr>
          <a:xfrm>
            <a:off x="6629399" y="1507553"/>
            <a:ext cx="1645922" cy="1487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0" name="Text 18"/>
          <p:cNvSpPr txBox="1"/>
          <p:nvPr/>
        </p:nvSpPr>
        <p:spPr>
          <a:xfrm>
            <a:off x="6629399" y="1889614"/>
            <a:ext cx="1645922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 canales RGB</a:t>
            </a:r>
          </a:p>
        </p:txBody>
      </p:sp>
      <p:sp>
        <p:nvSpPr>
          <p:cNvPr id="121" name="Text 19"/>
          <p:cNvSpPr txBox="1"/>
          <p:nvPr/>
        </p:nvSpPr>
        <p:spPr>
          <a:xfrm>
            <a:off x="411479" y="2804014"/>
            <a:ext cx="8321042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Data Augmentation</a:t>
            </a:r>
          </a:p>
        </p:txBody>
      </p:sp>
      <p:sp>
        <p:nvSpPr>
          <p:cNvPr id="122" name="Shape 20"/>
          <p:cNvSpPr/>
          <p:nvPr/>
        </p:nvSpPr>
        <p:spPr>
          <a:xfrm>
            <a:off x="411480" y="3127248"/>
            <a:ext cx="1783079" cy="41148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3" name="Text 21"/>
          <p:cNvSpPr txBox="1"/>
          <p:nvPr/>
        </p:nvSpPr>
        <p:spPr>
          <a:xfrm>
            <a:off x="411480" y="3246221"/>
            <a:ext cx="1783079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±20° rotación</a:t>
            </a:r>
          </a:p>
        </p:txBody>
      </p:sp>
      <p:sp>
        <p:nvSpPr>
          <p:cNvPr id="124" name="Shape 22"/>
          <p:cNvSpPr/>
          <p:nvPr/>
        </p:nvSpPr>
        <p:spPr>
          <a:xfrm>
            <a:off x="2450592" y="3127248"/>
            <a:ext cx="1783080" cy="41148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5" name="Text 23"/>
          <p:cNvSpPr txBox="1"/>
          <p:nvPr/>
        </p:nvSpPr>
        <p:spPr>
          <a:xfrm>
            <a:off x="2450592" y="3246221"/>
            <a:ext cx="1783080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±20% desplazamiento</a:t>
            </a:r>
          </a:p>
        </p:txBody>
      </p:sp>
      <p:sp>
        <p:nvSpPr>
          <p:cNvPr id="126" name="Shape 24"/>
          <p:cNvSpPr/>
          <p:nvPr/>
        </p:nvSpPr>
        <p:spPr>
          <a:xfrm>
            <a:off x="4489703" y="3127248"/>
            <a:ext cx="1783080" cy="41148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Text 25"/>
          <p:cNvSpPr txBox="1"/>
          <p:nvPr/>
        </p:nvSpPr>
        <p:spPr>
          <a:xfrm>
            <a:off x="4489703" y="3246221"/>
            <a:ext cx="1783080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Flip horizontal</a:t>
            </a:r>
          </a:p>
        </p:txBody>
      </p:sp>
      <p:sp>
        <p:nvSpPr>
          <p:cNvPr id="128" name="Shape 26"/>
          <p:cNvSpPr/>
          <p:nvPr/>
        </p:nvSpPr>
        <p:spPr>
          <a:xfrm>
            <a:off x="6528816" y="3127248"/>
            <a:ext cx="1783080" cy="41148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9" name="Text 27"/>
          <p:cNvSpPr txBox="1"/>
          <p:nvPr/>
        </p:nvSpPr>
        <p:spPr>
          <a:xfrm>
            <a:off x="6528816" y="3246221"/>
            <a:ext cx="1783080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±20% brillo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 · ARQUITECTURA DEL SISTEMA</a:t>
            </a:r>
          </a:p>
        </p:txBody>
      </p:sp>
      <p:sp>
        <p:nvSpPr>
          <p:cNvPr id="132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33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Arquitectura</a:t>
            </a:r>
          </a:p>
        </p:txBody>
      </p:sp>
      <p:sp>
        <p:nvSpPr>
          <p:cNvPr id="134" name="Text 3"/>
          <p:cNvSpPr txBox="1"/>
          <p:nvPr/>
        </p:nvSpPr>
        <p:spPr>
          <a:xfrm>
            <a:off x="411479" y="1089609"/>
            <a:ext cx="8321042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6 servicios · Docker Compose · Red interna hospital_net</a:t>
            </a:r>
          </a:p>
        </p:txBody>
      </p:sp>
      <p:sp>
        <p:nvSpPr>
          <p:cNvPr id="135" name="Shape 4"/>
          <p:cNvSpPr/>
          <p:nvPr/>
        </p:nvSpPr>
        <p:spPr>
          <a:xfrm>
            <a:off x="457200" y="1371600"/>
            <a:ext cx="8229601" cy="0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Shape 5"/>
          <p:cNvSpPr/>
          <p:nvPr/>
        </p:nvSpPr>
        <p:spPr>
          <a:xfrm>
            <a:off x="438912" y="1554480"/>
            <a:ext cx="2487168" cy="138988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7" name="Shape 6"/>
          <p:cNvSpPr/>
          <p:nvPr/>
        </p:nvSpPr>
        <p:spPr>
          <a:xfrm>
            <a:off x="438912" y="1554480"/>
            <a:ext cx="2487168" cy="45721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Text 7"/>
          <p:cNvSpPr txBox="1"/>
          <p:nvPr/>
        </p:nvSpPr>
        <p:spPr>
          <a:xfrm>
            <a:off x="438912" y="1693926"/>
            <a:ext cx="248716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◈</a:t>
            </a:r>
          </a:p>
        </p:txBody>
      </p:sp>
      <p:sp>
        <p:nvSpPr>
          <p:cNvPr id="139" name="Text 8"/>
          <p:cNvSpPr txBox="1"/>
          <p:nvPr/>
        </p:nvSpPr>
        <p:spPr>
          <a:xfrm>
            <a:off x="438912" y="2195938"/>
            <a:ext cx="2487168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PostgreSQL 16</a:t>
            </a:r>
          </a:p>
        </p:txBody>
      </p:sp>
      <p:sp>
        <p:nvSpPr>
          <p:cNvPr id="140" name="Text 9"/>
          <p:cNvSpPr txBox="1"/>
          <p:nvPr/>
        </p:nvSpPr>
        <p:spPr>
          <a:xfrm>
            <a:off x="438912" y="2546705"/>
            <a:ext cx="2487168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:5432</a:t>
            </a:r>
          </a:p>
        </p:txBody>
      </p:sp>
      <p:sp>
        <p:nvSpPr>
          <p:cNvPr id="141" name="Shape 10"/>
          <p:cNvSpPr/>
          <p:nvPr/>
        </p:nvSpPr>
        <p:spPr>
          <a:xfrm>
            <a:off x="3218688" y="1554480"/>
            <a:ext cx="2487169" cy="138988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2" name="Shape 11"/>
          <p:cNvSpPr/>
          <p:nvPr/>
        </p:nvSpPr>
        <p:spPr>
          <a:xfrm>
            <a:off x="3218688" y="1554480"/>
            <a:ext cx="2487169" cy="45721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3" name="Text 12"/>
          <p:cNvSpPr txBox="1"/>
          <p:nvPr/>
        </p:nvSpPr>
        <p:spPr>
          <a:xfrm>
            <a:off x="3218688" y="1725676"/>
            <a:ext cx="2487169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◉</a:t>
            </a:r>
          </a:p>
        </p:txBody>
      </p:sp>
      <p:sp>
        <p:nvSpPr>
          <p:cNvPr id="144" name="Text 13"/>
          <p:cNvSpPr txBox="1"/>
          <p:nvPr/>
        </p:nvSpPr>
        <p:spPr>
          <a:xfrm>
            <a:off x="3218688" y="2195938"/>
            <a:ext cx="2487169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MinIO S3</a:t>
            </a:r>
          </a:p>
        </p:txBody>
      </p:sp>
      <p:sp>
        <p:nvSpPr>
          <p:cNvPr id="145" name="Text 14"/>
          <p:cNvSpPr txBox="1"/>
          <p:nvPr/>
        </p:nvSpPr>
        <p:spPr>
          <a:xfrm>
            <a:off x="3218688" y="2546705"/>
            <a:ext cx="2487169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:9000</a:t>
            </a:r>
          </a:p>
        </p:txBody>
      </p:sp>
      <p:sp>
        <p:nvSpPr>
          <p:cNvPr id="146" name="Shape 15"/>
          <p:cNvSpPr/>
          <p:nvPr/>
        </p:nvSpPr>
        <p:spPr>
          <a:xfrm>
            <a:off x="5998464" y="1554480"/>
            <a:ext cx="2487169" cy="138988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7" name="Shape 16"/>
          <p:cNvSpPr/>
          <p:nvPr/>
        </p:nvSpPr>
        <p:spPr>
          <a:xfrm>
            <a:off x="5998464" y="1554480"/>
            <a:ext cx="2487169" cy="45721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17"/>
          <p:cNvSpPr txBox="1"/>
          <p:nvPr/>
        </p:nvSpPr>
        <p:spPr>
          <a:xfrm>
            <a:off x="5998464" y="1706626"/>
            <a:ext cx="248716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✉</a:t>
            </a:r>
          </a:p>
        </p:txBody>
      </p:sp>
      <p:sp>
        <p:nvSpPr>
          <p:cNvPr id="149" name="Text 18"/>
          <p:cNvSpPr txBox="1"/>
          <p:nvPr/>
        </p:nvSpPr>
        <p:spPr>
          <a:xfrm>
            <a:off x="5998464" y="2195938"/>
            <a:ext cx="2487169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Mailpit SMTP</a:t>
            </a:r>
          </a:p>
        </p:txBody>
      </p:sp>
      <p:sp>
        <p:nvSpPr>
          <p:cNvPr id="150" name="Text 19"/>
          <p:cNvSpPr txBox="1"/>
          <p:nvPr/>
        </p:nvSpPr>
        <p:spPr>
          <a:xfrm>
            <a:off x="5998464" y="2546705"/>
            <a:ext cx="2487169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:8025</a:t>
            </a:r>
          </a:p>
        </p:txBody>
      </p:sp>
      <p:sp>
        <p:nvSpPr>
          <p:cNvPr id="151" name="Shape 20"/>
          <p:cNvSpPr/>
          <p:nvPr/>
        </p:nvSpPr>
        <p:spPr>
          <a:xfrm>
            <a:off x="438912" y="3200399"/>
            <a:ext cx="2487168" cy="1389890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2" name="Shape 21"/>
          <p:cNvSpPr/>
          <p:nvPr/>
        </p:nvSpPr>
        <p:spPr>
          <a:xfrm>
            <a:off x="438912" y="3200399"/>
            <a:ext cx="2487168" cy="4572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Text 22"/>
          <p:cNvSpPr txBox="1"/>
          <p:nvPr/>
        </p:nvSpPr>
        <p:spPr>
          <a:xfrm>
            <a:off x="438912" y="3320796"/>
            <a:ext cx="2487168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⚡</a:t>
            </a:r>
          </a:p>
        </p:txBody>
      </p:sp>
      <p:sp>
        <p:nvSpPr>
          <p:cNvPr id="154" name="Text 23"/>
          <p:cNvSpPr txBox="1"/>
          <p:nvPr/>
        </p:nvSpPr>
        <p:spPr>
          <a:xfrm>
            <a:off x="438912" y="3841858"/>
            <a:ext cx="2487168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FastAPI</a:t>
            </a:r>
          </a:p>
        </p:txBody>
      </p:sp>
      <p:sp>
        <p:nvSpPr>
          <p:cNvPr id="155" name="Text 24"/>
          <p:cNvSpPr txBox="1"/>
          <p:nvPr/>
        </p:nvSpPr>
        <p:spPr>
          <a:xfrm>
            <a:off x="438912" y="4192625"/>
            <a:ext cx="2487168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:8000</a:t>
            </a:r>
          </a:p>
        </p:txBody>
      </p:sp>
      <p:sp>
        <p:nvSpPr>
          <p:cNvPr id="156" name="Shape 25"/>
          <p:cNvSpPr/>
          <p:nvPr/>
        </p:nvSpPr>
        <p:spPr>
          <a:xfrm>
            <a:off x="3218688" y="3200399"/>
            <a:ext cx="2487169" cy="1389890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7" name="Shape 26"/>
          <p:cNvSpPr/>
          <p:nvPr/>
        </p:nvSpPr>
        <p:spPr>
          <a:xfrm>
            <a:off x="3218688" y="3200399"/>
            <a:ext cx="2487169" cy="4572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Text 27"/>
          <p:cNvSpPr txBox="1"/>
          <p:nvPr/>
        </p:nvSpPr>
        <p:spPr>
          <a:xfrm>
            <a:off x="3218688" y="3352546"/>
            <a:ext cx="248716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◧</a:t>
            </a:r>
          </a:p>
        </p:txBody>
      </p:sp>
      <p:sp>
        <p:nvSpPr>
          <p:cNvPr id="159" name="Text 28"/>
          <p:cNvSpPr txBox="1"/>
          <p:nvPr/>
        </p:nvSpPr>
        <p:spPr>
          <a:xfrm>
            <a:off x="3218688" y="3841858"/>
            <a:ext cx="2487169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pgAdmin 4</a:t>
            </a:r>
          </a:p>
        </p:txBody>
      </p:sp>
      <p:sp>
        <p:nvSpPr>
          <p:cNvPr id="160" name="Text 29"/>
          <p:cNvSpPr txBox="1"/>
          <p:nvPr/>
        </p:nvSpPr>
        <p:spPr>
          <a:xfrm>
            <a:off x="3218688" y="4192625"/>
            <a:ext cx="2487169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:5050</a:t>
            </a:r>
          </a:p>
        </p:txBody>
      </p:sp>
      <p:sp>
        <p:nvSpPr>
          <p:cNvPr id="161" name="Shape 30"/>
          <p:cNvSpPr/>
          <p:nvPr/>
        </p:nvSpPr>
        <p:spPr>
          <a:xfrm>
            <a:off x="5998464" y="3200399"/>
            <a:ext cx="2487169" cy="1389890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2" name="Shape 31"/>
          <p:cNvSpPr/>
          <p:nvPr/>
        </p:nvSpPr>
        <p:spPr>
          <a:xfrm>
            <a:off x="5998464" y="3200399"/>
            <a:ext cx="2487169" cy="4572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Text 32"/>
          <p:cNvSpPr txBox="1"/>
          <p:nvPr/>
        </p:nvSpPr>
        <p:spPr>
          <a:xfrm>
            <a:off x="5998464" y="3376910"/>
            <a:ext cx="2487169" cy="268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⊞</a:t>
            </a:r>
          </a:p>
        </p:txBody>
      </p:sp>
      <p:sp>
        <p:nvSpPr>
          <p:cNvPr id="164" name="Text 33"/>
          <p:cNvSpPr txBox="1"/>
          <p:nvPr/>
        </p:nvSpPr>
        <p:spPr>
          <a:xfrm>
            <a:off x="5998464" y="3841858"/>
            <a:ext cx="2487169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Frontend nginx</a:t>
            </a:r>
          </a:p>
        </p:txBody>
      </p:sp>
      <p:sp>
        <p:nvSpPr>
          <p:cNvPr id="165" name="Text 34"/>
          <p:cNvSpPr txBox="1"/>
          <p:nvPr/>
        </p:nvSpPr>
        <p:spPr>
          <a:xfrm>
            <a:off x="5998464" y="4192625"/>
            <a:ext cx="2487169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:3000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4 · MODELOS DE IA</a:t>
            </a:r>
          </a:p>
        </p:txBody>
      </p:sp>
      <p:sp>
        <p:nvSpPr>
          <p:cNvPr id="168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69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El modelo</a:t>
            </a:r>
          </a:p>
        </p:txBody>
      </p:sp>
      <p:sp>
        <p:nvSpPr>
          <p:cNvPr id="170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1" name="Shape 4"/>
          <p:cNvSpPr/>
          <p:nvPr/>
        </p:nvSpPr>
        <p:spPr>
          <a:xfrm>
            <a:off x="411479" y="1170432"/>
            <a:ext cx="3931922" cy="347472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Text 5"/>
          <p:cNvSpPr txBox="1"/>
          <p:nvPr/>
        </p:nvSpPr>
        <p:spPr>
          <a:xfrm>
            <a:off x="594359" y="1387685"/>
            <a:ext cx="3566161" cy="260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Pipeline sklearn</a:t>
            </a:r>
          </a:p>
        </p:txBody>
      </p:sp>
      <p:grpSp>
        <p:nvGrpSpPr>
          <p:cNvPr id="175" name="Text 6"/>
          <p:cNvGrpSpPr/>
          <p:nvPr/>
        </p:nvGrpSpPr>
        <p:grpSpPr>
          <a:xfrm>
            <a:off x="594359" y="1719072"/>
            <a:ext cx="1280162" cy="256033"/>
            <a:chOff x="0" y="0"/>
            <a:chExt cx="1280160" cy="256031"/>
          </a:xfrm>
        </p:grpSpPr>
        <p:sp>
          <p:nvSpPr>
            <p:cNvPr id="173" name="Rectángulo"/>
            <p:cNvSpPr/>
            <p:nvPr/>
          </p:nvSpPr>
          <p:spPr>
            <a:xfrm>
              <a:off x="-1" y="0"/>
              <a:ext cx="1280162" cy="256032"/>
            </a:xfrm>
            <a:prstGeom prst="rect">
              <a:avLst/>
            </a:prstGeom>
            <a:solidFill>
              <a:srgbClr val="0071E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74" name="Implementado"/>
            <p:cNvSpPr txBox="1"/>
            <p:nvPr/>
          </p:nvSpPr>
          <p:spPr>
            <a:xfrm>
              <a:off x="-1" y="9023"/>
              <a:ext cx="1280162" cy="2379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 algn="ctr">
                <a:defRPr b="1" sz="9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defRPr>
              </a:lvl1pPr>
            </a:lstStyle>
            <a:p>
              <a:pPr/>
              <a:r>
                <a:t>Implementado</a:t>
              </a:r>
            </a:p>
          </p:txBody>
        </p:sp>
      </p:grpSp>
      <p:sp>
        <p:nvSpPr>
          <p:cNvPr id="176" name="Text 7"/>
          <p:cNvSpPr txBox="1"/>
          <p:nvPr/>
        </p:nvSpPr>
        <p:spPr>
          <a:xfrm>
            <a:off x="594359" y="2333193"/>
            <a:ext cx="3566161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StandardScaler</a:t>
            </a:r>
          </a:p>
        </p:txBody>
      </p:sp>
      <p:sp>
        <p:nvSpPr>
          <p:cNvPr id="177" name="Text 8"/>
          <p:cNvSpPr txBox="1"/>
          <p:nvPr/>
        </p:nvSpPr>
        <p:spPr>
          <a:xfrm>
            <a:off x="594359" y="2597657"/>
            <a:ext cx="36576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178" name="Text 9"/>
          <p:cNvSpPr txBox="1"/>
          <p:nvPr/>
        </p:nvSpPr>
        <p:spPr>
          <a:xfrm>
            <a:off x="594359" y="2836113"/>
            <a:ext cx="3566161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PCA (100 componentes)</a:t>
            </a:r>
          </a:p>
        </p:txBody>
      </p:sp>
      <p:sp>
        <p:nvSpPr>
          <p:cNvPr id="179" name="Text 10"/>
          <p:cNvSpPr txBox="1"/>
          <p:nvPr/>
        </p:nvSpPr>
        <p:spPr>
          <a:xfrm>
            <a:off x="594359" y="3100577"/>
            <a:ext cx="36576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180" name="Text 11"/>
          <p:cNvSpPr txBox="1"/>
          <p:nvPr/>
        </p:nvSpPr>
        <p:spPr>
          <a:xfrm>
            <a:off x="594359" y="3339033"/>
            <a:ext cx="3566161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MLP 256 · 128 · 64</a:t>
            </a:r>
          </a:p>
        </p:txBody>
      </p:sp>
      <p:sp>
        <p:nvSpPr>
          <p:cNvPr id="181" name="Text 12"/>
          <p:cNvSpPr txBox="1"/>
          <p:nvPr/>
        </p:nvSpPr>
        <p:spPr>
          <a:xfrm>
            <a:off x="594359" y="4217085"/>
            <a:ext cx="3566161" cy="161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Sin GPU · Serializable · Rápido</a:t>
            </a:r>
          </a:p>
        </p:txBody>
      </p:sp>
      <p:sp>
        <p:nvSpPr>
          <p:cNvPr id="182" name="Shape 13"/>
          <p:cNvSpPr/>
          <p:nvPr/>
        </p:nvSpPr>
        <p:spPr>
          <a:xfrm>
            <a:off x="4800599" y="1170432"/>
            <a:ext cx="3931922" cy="3474721"/>
          </a:xfrm>
          <a:prstGeom prst="rect">
            <a:avLst/>
          </a:prstGeom>
          <a:solidFill>
            <a:srgbClr val="FFFFFF"/>
          </a:solidFill>
          <a:ln w="1905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Text 14"/>
          <p:cNvSpPr txBox="1"/>
          <p:nvPr/>
        </p:nvSpPr>
        <p:spPr>
          <a:xfrm>
            <a:off x="4983479" y="1387685"/>
            <a:ext cx="3566160" cy="260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Objetivo de producción</a:t>
            </a:r>
          </a:p>
        </p:txBody>
      </p:sp>
      <p:sp>
        <p:nvSpPr>
          <p:cNvPr id="184" name="Text 15"/>
          <p:cNvSpPr txBox="1"/>
          <p:nvPr/>
        </p:nvSpPr>
        <p:spPr>
          <a:xfrm>
            <a:off x="4983479" y="2043468"/>
            <a:ext cx="356616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EfficientNetB4 + Transfer Learning</a:t>
            </a:r>
          </a:p>
        </p:txBody>
      </p:sp>
      <p:sp>
        <p:nvSpPr>
          <p:cNvPr id="185" name="Shape 16"/>
          <p:cNvSpPr/>
          <p:nvPr/>
        </p:nvSpPr>
        <p:spPr>
          <a:xfrm>
            <a:off x="4983479" y="2532888"/>
            <a:ext cx="73153" cy="73153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Text 17"/>
          <p:cNvSpPr txBox="1"/>
          <p:nvPr/>
        </p:nvSpPr>
        <p:spPr>
          <a:xfrm>
            <a:off x="5166359" y="2567965"/>
            <a:ext cx="338328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Pre-entrenado en ImageNet</a:t>
            </a:r>
          </a:p>
        </p:txBody>
      </p:sp>
      <p:sp>
        <p:nvSpPr>
          <p:cNvPr id="187" name="Shape 18"/>
          <p:cNvSpPr/>
          <p:nvPr/>
        </p:nvSpPr>
        <p:spPr>
          <a:xfrm>
            <a:off x="4983479" y="2971799"/>
            <a:ext cx="73153" cy="73154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Text 19"/>
          <p:cNvSpPr txBox="1"/>
          <p:nvPr/>
        </p:nvSpPr>
        <p:spPr>
          <a:xfrm>
            <a:off x="5166359" y="3006877"/>
            <a:ext cx="338328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~17 M parámetros</a:t>
            </a:r>
          </a:p>
        </p:txBody>
      </p:sp>
      <p:sp>
        <p:nvSpPr>
          <p:cNvPr id="189" name="Shape 20"/>
          <p:cNvSpPr/>
          <p:nvPr/>
        </p:nvSpPr>
        <p:spPr>
          <a:xfrm>
            <a:off x="4983479" y="3410711"/>
            <a:ext cx="73153" cy="73153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Text 21"/>
          <p:cNvSpPr txBox="1"/>
          <p:nvPr/>
        </p:nvSpPr>
        <p:spPr>
          <a:xfrm>
            <a:off x="5166359" y="3445789"/>
            <a:ext cx="338328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Fine-tuning últimas 20 capas</a:t>
            </a:r>
          </a:p>
        </p:txBody>
      </p:sp>
      <p:sp>
        <p:nvSpPr>
          <p:cNvPr id="191" name="Shape 22"/>
          <p:cNvSpPr/>
          <p:nvPr/>
        </p:nvSpPr>
        <p:spPr>
          <a:xfrm>
            <a:off x="4983479" y="3849623"/>
            <a:ext cx="73153" cy="73153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2" name="Text 23"/>
          <p:cNvSpPr txBox="1"/>
          <p:nvPr/>
        </p:nvSpPr>
        <p:spPr>
          <a:xfrm>
            <a:off x="5166359" y="3884701"/>
            <a:ext cx="338328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Alta precisión diagnóstica</a:t>
            </a:r>
          </a:p>
        </p:txBody>
      </p:sp>
      <p:sp>
        <p:nvSpPr>
          <p:cNvPr id="193" name="Text 24"/>
          <p:cNvSpPr txBox="1"/>
          <p:nvPr/>
        </p:nvSpPr>
        <p:spPr>
          <a:xfrm>
            <a:off x="4983479" y="4217085"/>
            <a:ext cx="3566160" cy="161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ImageNet · Alta precisión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4 · MODELOS DE IA</a:t>
            </a:r>
          </a:p>
        </p:txBody>
      </p:sp>
      <p:sp>
        <p:nvSpPr>
          <p:cNvPr id="196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97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Evaluación</a:t>
            </a:r>
          </a:p>
        </p:txBody>
      </p:sp>
      <p:sp>
        <p:nvSpPr>
          <p:cNvPr id="198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9" name="Shape 4"/>
          <p:cNvSpPr/>
          <p:nvPr/>
        </p:nvSpPr>
        <p:spPr>
          <a:xfrm>
            <a:off x="411479" y="1170432"/>
            <a:ext cx="1874522" cy="137160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0" name="Text 5"/>
          <p:cNvSpPr txBox="1"/>
          <p:nvPr/>
        </p:nvSpPr>
        <p:spPr>
          <a:xfrm>
            <a:off x="411479" y="1543526"/>
            <a:ext cx="187452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201" name="Text 6"/>
          <p:cNvSpPr txBox="1"/>
          <p:nvPr/>
        </p:nvSpPr>
        <p:spPr>
          <a:xfrm>
            <a:off x="502920" y="2110993"/>
            <a:ext cx="1691640" cy="148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Predicciones correctas / total</a:t>
            </a:r>
          </a:p>
        </p:txBody>
      </p:sp>
      <p:sp>
        <p:nvSpPr>
          <p:cNvPr id="202" name="Shape 7"/>
          <p:cNvSpPr/>
          <p:nvPr/>
        </p:nvSpPr>
        <p:spPr>
          <a:xfrm>
            <a:off x="2560320" y="1170432"/>
            <a:ext cx="1874521" cy="137160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3" name="Text 8"/>
          <p:cNvSpPr txBox="1"/>
          <p:nvPr/>
        </p:nvSpPr>
        <p:spPr>
          <a:xfrm>
            <a:off x="2560320" y="1543526"/>
            <a:ext cx="1874521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Precision</a:t>
            </a:r>
          </a:p>
        </p:txBody>
      </p:sp>
      <p:sp>
        <p:nvSpPr>
          <p:cNvPr id="204" name="Text 9"/>
          <p:cNvSpPr txBox="1"/>
          <p:nvPr/>
        </p:nvSpPr>
        <p:spPr>
          <a:xfrm>
            <a:off x="2651760" y="2110993"/>
            <a:ext cx="1691641" cy="148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TP / (TP + FP)</a:t>
            </a:r>
          </a:p>
        </p:txBody>
      </p:sp>
      <p:sp>
        <p:nvSpPr>
          <p:cNvPr id="205" name="Shape 10"/>
          <p:cNvSpPr/>
          <p:nvPr/>
        </p:nvSpPr>
        <p:spPr>
          <a:xfrm>
            <a:off x="4709159" y="1170432"/>
            <a:ext cx="1874521" cy="137160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6" name="Text 11"/>
          <p:cNvSpPr txBox="1"/>
          <p:nvPr/>
        </p:nvSpPr>
        <p:spPr>
          <a:xfrm>
            <a:off x="4709159" y="1543526"/>
            <a:ext cx="1874521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Recall</a:t>
            </a:r>
          </a:p>
        </p:txBody>
      </p:sp>
      <p:sp>
        <p:nvSpPr>
          <p:cNvPr id="207" name="Text 12"/>
          <p:cNvSpPr txBox="1"/>
          <p:nvPr/>
        </p:nvSpPr>
        <p:spPr>
          <a:xfrm>
            <a:off x="4800600" y="2110993"/>
            <a:ext cx="1691640" cy="148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TP / (TP + FN)</a:t>
            </a:r>
          </a:p>
        </p:txBody>
      </p:sp>
      <p:sp>
        <p:nvSpPr>
          <p:cNvPr id="208" name="Shape 13"/>
          <p:cNvSpPr/>
          <p:nvPr/>
        </p:nvSpPr>
        <p:spPr>
          <a:xfrm>
            <a:off x="6857999" y="1170432"/>
            <a:ext cx="1874522" cy="137160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9" name="Text 14"/>
          <p:cNvSpPr txBox="1"/>
          <p:nvPr/>
        </p:nvSpPr>
        <p:spPr>
          <a:xfrm>
            <a:off x="6857999" y="1543526"/>
            <a:ext cx="187452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F1-Score</a:t>
            </a:r>
          </a:p>
        </p:txBody>
      </p:sp>
      <p:sp>
        <p:nvSpPr>
          <p:cNvPr id="210" name="Text 15"/>
          <p:cNvSpPr txBox="1"/>
          <p:nvPr/>
        </p:nvSpPr>
        <p:spPr>
          <a:xfrm>
            <a:off x="6949440" y="2110993"/>
            <a:ext cx="1691641" cy="148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Media armónica P · R</a:t>
            </a:r>
          </a:p>
        </p:txBody>
      </p:sp>
      <p:sp>
        <p:nvSpPr>
          <p:cNvPr id="211" name="Text 16"/>
          <p:cNvSpPr txBox="1"/>
          <p:nvPr/>
        </p:nvSpPr>
        <p:spPr>
          <a:xfrm>
            <a:off x="411479" y="2860472"/>
            <a:ext cx="8321042" cy="186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Errores clínicos</a:t>
            </a:r>
          </a:p>
        </p:txBody>
      </p:sp>
      <p:sp>
        <p:nvSpPr>
          <p:cNvPr id="212" name="Shape 17"/>
          <p:cNvSpPr/>
          <p:nvPr/>
        </p:nvSpPr>
        <p:spPr>
          <a:xfrm>
            <a:off x="411480" y="3200400"/>
            <a:ext cx="54865" cy="38404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3" name="Text 18"/>
          <p:cNvSpPr txBox="1"/>
          <p:nvPr/>
        </p:nvSpPr>
        <p:spPr>
          <a:xfrm>
            <a:off x="594359" y="3288646"/>
            <a:ext cx="1371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FN COVID-19</a:t>
            </a:r>
          </a:p>
        </p:txBody>
      </p:sp>
      <p:sp>
        <p:nvSpPr>
          <p:cNvPr id="214" name="Text 19"/>
          <p:cNvSpPr txBox="1"/>
          <p:nvPr/>
        </p:nvSpPr>
        <p:spPr>
          <a:xfrm>
            <a:off x="2103120" y="3276987"/>
            <a:ext cx="1234441" cy="212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b="1" sz="900">
                <a:solidFill>
                  <a:srgbClr val="C6282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CRÍTICO</a:t>
            </a:r>
          </a:p>
        </p:txBody>
      </p:sp>
      <p:sp>
        <p:nvSpPr>
          <p:cNvPr id="215" name="Text 20"/>
          <p:cNvSpPr txBox="1"/>
          <p:nvPr/>
        </p:nvSpPr>
        <p:spPr>
          <a:xfrm>
            <a:off x="3520440" y="3292445"/>
            <a:ext cx="5212081" cy="190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Paciente no detectado → riesgo de contagio</a:t>
            </a:r>
          </a:p>
        </p:txBody>
      </p:sp>
      <p:sp>
        <p:nvSpPr>
          <p:cNvPr id="216" name="Shape 21"/>
          <p:cNvSpPr/>
          <p:nvPr/>
        </p:nvSpPr>
        <p:spPr>
          <a:xfrm>
            <a:off x="411480" y="3749040"/>
            <a:ext cx="54865" cy="384049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7" name="Text 22"/>
          <p:cNvSpPr txBox="1"/>
          <p:nvPr/>
        </p:nvSpPr>
        <p:spPr>
          <a:xfrm>
            <a:off x="594359" y="3837286"/>
            <a:ext cx="1371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FN Neumonía</a:t>
            </a:r>
          </a:p>
        </p:txBody>
      </p:sp>
      <p:sp>
        <p:nvSpPr>
          <p:cNvPr id="218" name="Text 23"/>
          <p:cNvSpPr txBox="1"/>
          <p:nvPr/>
        </p:nvSpPr>
        <p:spPr>
          <a:xfrm>
            <a:off x="2103120" y="3825627"/>
            <a:ext cx="1234441" cy="212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b="1" sz="900">
                <a:solidFill>
                  <a:srgbClr val="E651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IMPORTANTE</a:t>
            </a:r>
          </a:p>
        </p:txBody>
      </p:sp>
      <p:sp>
        <p:nvSpPr>
          <p:cNvPr id="219" name="Text 24"/>
          <p:cNvSpPr txBox="1"/>
          <p:nvPr/>
        </p:nvSpPr>
        <p:spPr>
          <a:xfrm>
            <a:off x="3520440" y="3849725"/>
            <a:ext cx="52120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Retraso en tratamiento antibiótico</a:t>
            </a:r>
          </a:p>
        </p:txBody>
      </p:sp>
      <p:sp>
        <p:nvSpPr>
          <p:cNvPr id="220" name="Shape 25"/>
          <p:cNvSpPr/>
          <p:nvPr/>
        </p:nvSpPr>
        <p:spPr>
          <a:xfrm>
            <a:off x="411480" y="4297679"/>
            <a:ext cx="54865" cy="384049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1" name="Text 26"/>
          <p:cNvSpPr txBox="1"/>
          <p:nvPr/>
        </p:nvSpPr>
        <p:spPr>
          <a:xfrm>
            <a:off x="594359" y="4385926"/>
            <a:ext cx="1371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FP COVID-19</a:t>
            </a:r>
          </a:p>
        </p:txBody>
      </p:sp>
      <p:sp>
        <p:nvSpPr>
          <p:cNvPr id="222" name="Text 27"/>
          <p:cNvSpPr txBox="1"/>
          <p:nvPr/>
        </p:nvSpPr>
        <p:spPr>
          <a:xfrm>
            <a:off x="2103120" y="4374267"/>
            <a:ext cx="1234441" cy="212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b="1" sz="900">
                <a:solidFill>
                  <a:srgbClr val="2E7D3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TOLERABLE</a:t>
            </a:r>
          </a:p>
        </p:txBody>
      </p:sp>
      <p:sp>
        <p:nvSpPr>
          <p:cNvPr id="223" name="Text 28"/>
          <p:cNvSpPr txBox="1"/>
          <p:nvPr/>
        </p:nvSpPr>
        <p:spPr>
          <a:xfrm>
            <a:off x="3520440" y="4389725"/>
            <a:ext cx="5212081" cy="190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Aislamiento preventivo → confirmación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5 · AUTOMATIZACIONES</a:t>
            </a:r>
          </a:p>
        </p:txBody>
      </p:sp>
      <p:sp>
        <p:nvSpPr>
          <p:cNvPr id="226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227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Automatizaciones</a:t>
            </a:r>
          </a:p>
        </p:txBody>
      </p:sp>
      <p:sp>
        <p:nvSpPr>
          <p:cNvPr id="228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9" name="Shape 4"/>
          <p:cNvSpPr/>
          <p:nvPr/>
        </p:nvSpPr>
        <p:spPr>
          <a:xfrm>
            <a:off x="411479" y="1261872"/>
            <a:ext cx="8321042" cy="960120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0" name="Shape 5"/>
          <p:cNvSpPr/>
          <p:nvPr/>
        </p:nvSpPr>
        <p:spPr>
          <a:xfrm>
            <a:off x="594359" y="1444752"/>
            <a:ext cx="566929" cy="566929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1" name="Text 6"/>
          <p:cNvSpPr txBox="1"/>
          <p:nvPr/>
        </p:nvSpPr>
        <p:spPr>
          <a:xfrm>
            <a:off x="594359" y="160299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✉</a:t>
            </a:r>
          </a:p>
        </p:txBody>
      </p:sp>
      <p:sp>
        <p:nvSpPr>
          <p:cNvPr id="232" name="Text 7"/>
          <p:cNvSpPr txBox="1"/>
          <p:nvPr/>
        </p:nvSpPr>
        <p:spPr>
          <a:xfrm>
            <a:off x="1353312" y="1433798"/>
            <a:ext cx="7132319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Recuperación de contraseña</a:t>
            </a:r>
          </a:p>
        </p:txBody>
      </p:sp>
      <p:sp>
        <p:nvSpPr>
          <p:cNvPr id="233" name="Text 8"/>
          <p:cNvSpPr txBox="1"/>
          <p:nvPr/>
        </p:nvSpPr>
        <p:spPr>
          <a:xfrm>
            <a:off x="1353312" y="1810613"/>
            <a:ext cx="7132319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Tokens de un solo uso  ·  TTL 30 min  ·  SMTP / Mailpit</a:t>
            </a:r>
          </a:p>
        </p:txBody>
      </p:sp>
      <p:sp>
        <p:nvSpPr>
          <p:cNvPr id="234" name="Shape 9"/>
          <p:cNvSpPr/>
          <p:nvPr/>
        </p:nvSpPr>
        <p:spPr>
          <a:xfrm>
            <a:off x="411479" y="2450592"/>
            <a:ext cx="8321042" cy="96012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5" name="Shape 10"/>
          <p:cNvSpPr/>
          <p:nvPr/>
        </p:nvSpPr>
        <p:spPr>
          <a:xfrm>
            <a:off x="594359" y="2633472"/>
            <a:ext cx="566929" cy="566929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6" name="Text 11"/>
          <p:cNvSpPr txBox="1"/>
          <p:nvPr/>
        </p:nvSpPr>
        <p:spPr>
          <a:xfrm>
            <a:off x="594359" y="2810764"/>
            <a:ext cx="566929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◎</a:t>
            </a:r>
          </a:p>
        </p:txBody>
      </p:sp>
      <p:sp>
        <p:nvSpPr>
          <p:cNvPr id="237" name="Text 12"/>
          <p:cNvSpPr txBox="1"/>
          <p:nvPr/>
        </p:nvSpPr>
        <p:spPr>
          <a:xfrm>
            <a:off x="1353312" y="2622518"/>
            <a:ext cx="7132319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Alertas de pipeline</a:t>
            </a:r>
          </a:p>
        </p:txBody>
      </p:sp>
      <p:sp>
        <p:nvSpPr>
          <p:cNvPr id="238" name="Text 13"/>
          <p:cNvSpPr txBox="1"/>
          <p:nvPr/>
        </p:nvSpPr>
        <p:spPr>
          <a:xfrm>
            <a:off x="1353312" y="2999333"/>
            <a:ext cx="7132319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Eventos registrados en pipeline_events  ·  PostgreSQL</a:t>
            </a:r>
          </a:p>
        </p:txBody>
      </p:sp>
      <p:sp>
        <p:nvSpPr>
          <p:cNvPr id="239" name="Shape 14"/>
          <p:cNvSpPr/>
          <p:nvPr/>
        </p:nvSpPr>
        <p:spPr>
          <a:xfrm>
            <a:off x="411479" y="3639311"/>
            <a:ext cx="8321042" cy="960121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0" name="Shape 15"/>
          <p:cNvSpPr/>
          <p:nvPr/>
        </p:nvSpPr>
        <p:spPr>
          <a:xfrm>
            <a:off x="594359" y="3822191"/>
            <a:ext cx="566929" cy="566929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1" name="Text 16"/>
          <p:cNvSpPr txBox="1"/>
          <p:nvPr/>
        </p:nvSpPr>
        <p:spPr>
          <a:xfrm>
            <a:off x="594359" y="398043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▤</a:t>
            </a:r>
          </a:p>
        </p:txBody>
      </p:sp>
      <p:sp>
        <p:nvSpPr>
          <p:cNvPr id="242" name="Text 17"/>
          <p:cNvSpPr txBox="1"/>
          <p:nvPr/>
        </p:nvSpPr>
        <p:spPr>
          <a:xfrm>
            <a:off x="1353312" y="3811239"/>
            <a:ext cx="7132319" cy="223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Movimiento de ficheros</a:t>
            </a:r>
          </a:p>
        </p:txBody>
      </p:sp>
      <p:sp>
        <p:nvSpPr>
          <p:cNvPr id="243" name="Text 18"/>
          <p:cNvSpPr txBox="1"/>
          <p:nvPr/>
        </p:nvSpPr>
        <p:spPr>
          <a:xfrm>
            <a:off x="1353312" y="4179413"/>
            <a:ext cx="7132319" cy="190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Ingesta  →  Procesamiento  →  Archivo automático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6 · INTEGRACIONES</a:t>
            </a:r>
          </a:p>
        </p:txBody>
      </p:sp>
      <p:sp>
        <p:nvSpPr>
          <p:cNvPr id="246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247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Flujo de datos</a:t>
            </a:r>
          </a:p>
        </p:txBody>
      </p:sp>
      <p:sp>
        <p:nvSpPr>
          <p:cNvPr id="248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9" name="Shape 4"/>
          <p:cNvSpPr/>
          <p:nvPr/>
        </p:nvSpPr>
        <p:spPr>
          <a:xfrm>
            <a:off x="411479" y="1371599"/>
            <a:ext cx="1645922" cy="868682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0" name="Text 5"/>
          <p:cNvSpPr txBox="1"/>
          <p:nvPr/>
        </p:nvSpPr>
        <p:spPr>
          <a:xfrm>
            <a:off x="411479" y="1607743"/>
            <a:ext cx="1645922" cy="186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Usuario</a:t>
            </a:r>
          </a:p>
        </p:txBody>
      </p:sp>
      <p:sp>
        <p:nvSpPr>
          <p:cNvPr id="251" name="Text 6"/>
          <p:cNvSpPr txBox="1"/>
          <p:nvPr/>
        </p:nvSpPr>
        <p:spPr>
          <a:xfrm>
            <a:off x="2057400" y="1668017"/>
            <a:ext cx="57912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52" name="Shape 7"/>
          <p:cNvSpPr/>
          <p:nvPr/>
        </p:nvSpPr>
        <p:spPr>
          <a:xfrm>
            <a:off x="2636520" y="1371599"/>
            <a:ext cx="1645921" cy="868682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Text 8"/>
          <p:cNvSpPr txBox="1"/>
          <p:nvPr/>
        </p:nvSpPr>
        <p:spPr>
          <a:xfrm>
            <a:off x="2636520" y="1607743"/>
            <a:ext cx="1645921" cy="186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Frontend</a:t>
            </a:r>
          </a:p>
        </p:txBody>
      </p:sp>
      <p:sp>
        <p:nvSpPr>
          <p:cNvPr id="254" name="Text 9"/>
          <p:cNvSpPr txBox="1"/>
          <p:nvPr/>
        </p:nvSpPr>
        <p:spPr>
          <a:xfrm>
            <a:off x="2636520" y="1982977"/>
            <a:ext cx="1645921" cy="148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nginx :3000</a:t>
            </a:r>
          </a:p>
        </p:txBody>
      </p:sp>
      <p:sp>
        <p:nvSpPr>
          <p:cNvPr id="255" name="Text 10"/>
          <p:cNvSpPr txBox="1"/>
          <p:nvPr/>
        </p:nvSpPr>
        <p:spPr>
          <a:xfrm>
            <a:off x="4282440" y="1668017"/>
            <a:ext cx="57912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56" name="Shape 11"/>
          <p:cNvSpPr/>
          <p:nvPr/>
        </p:nvSpPr>
        <p:spPr>
          <a:xfrm>
            <a:off x="4861559" y="1371599"/>
            <a:ext cx="1645921" cy="868682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7" name="Text 12"/>
          <p:cNvSpPr txBox="1"/>
          <p:nvPr/>
        </p:nvSpPr>
        <p:spPr>
          <a:xfrm>
            <a:off x="4861559" y="1607743"/>
            <a:ext cx="1645921" cy="186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API FastAPI</a:t>
            </a:r>
          </a:p>
        </p:txBody>
      </p:sp>
      <p:sp>
        <p:nvSpPr>
          <p:cNvPr id="258" name="Text 13"/>
          <p:cNvSpPr txBox="1"/>
          <p:nvPr/>
        </p:nvSpPr>
        <p:spPr>
          <a:xfrm>
            <a:off x="4861559" y="1982977"/>
            <a:ext cx="1645921" cy="148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:8000</a:t>
            </a:r>
          </a:p>
        </p:txBody>
      </p:sp>
      <p:sp>
        <p:nvSpPr>
          <p:cNvPr id="259" name="Text 14"/>
          <p:cNvSpPr txBox="1"/>
          <p:nvPr/>
        </p:nvSpPr>
        <p:spPr>
          <a:xfrm>
            <a:off x="6507480" y="1668017"/>
            <a:ext cx="57912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60" name="Shape 15"/>
          <p:cNvSpPr/>
          <p:nvPr/>
        </p:nvSpPr>
        <p:spPr>
          <a:xfrm>
            <a:off x="7086599" y="1371599"/>
            <a:ext cx="1645922" cy="868682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1" name="Text 16"/>
          <p:cNvSpPr txBox="1"/>
          <p:nvPr/>
        </p:nvSpPr>
        <p:spPr>
          <a:xfrm>
            <a:off x="7086599" y="1512493"/>
            <a:ext cx="1645922" cy="3765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PostgreSQL</a:t>
            </a:r>
          </a:p>
          <a:p>
            <a:pPr algn="ctr">
              <a:defRPr b="1" sz="1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/ MinIO</a:t>
            </a:r>
          </a:p>
        </p:txBody>
      </p:sp>
      <p:sp>
        <p:nvSpPr>
          <p:cNvPr id="262" name="Shape 17"/>
          <p:cNvSpPr/>
          <p:nvPr/>
        </p:nvSpPr>
        <p:spPr>
          <a:xfrm>
            <a:off x="5684520" y="2240279"/>
            <a:ext cx="1" cy="960121"/>
          </a:xfrm>
          <a:prstGeom prst="line">
            <a:avLst/>
          </a:prstGeom>
          <a:ln w="12700">
            <a:solidFill>
              <a:srgbClr val="D2D2D7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263" name="Text 18"/>
          <p:cNvSpPr txBox="1"/>
          <p:nvPr/>
        </p:nvSpPr>
        <p:spPr>
          <a:xfrm>
            <a:off x="5364479" y="2818130"/>
            <a:ext cx="64008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264" name="Shape 19"/>
          <p:cNvSpPr/>
          <p:nvPr/>
        </p:nvSpPr>
        <p:spPr>
          <a:xfrm>
            <a:off x="4861559" y="3200399"/>
            <a:ext cx="1645921" cy="822962"/>
          </a:xfrm>
          <a:prstGeom prst="rect">
            <a:avLst/>
          </a:prstGeom>
          <a:solidFill>
            <a:srgbClr val="E8F2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5" name="Text 20"/>
          <p:cNvSpPr txBox="1"/>
          <p:nvPr/>
        </p:nvSpPr>
        <p:spPr>
          <a:xfrm>
            <a:off x="4861559" y="3372536"/>
            <a:ext cx="1645921" cy="186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Modelo ML</a:t>
            </a:r>
          </a:p>
        </p:txBody>
      </p:sp>
      <p:sp>
        <p:nvSpPr>
          <p:cNvPr id="266" name="Text 21"/>
          <p:cNvSpPr txBox="1"/>
          <p:nvPr/>
        </p:nvSpPr>
        <p:spPr>
          <a:xfrm>
            <a:off x="4861559" y="3681853"/>
            <a:ext cx="1645921" cy="152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 predictions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7 · DIARIO DE DESARROLLO CON IA</a:t>
            </a:r>
          </a:p>
        </p:txBody>
      </p:sp>
      <p:sp>
        <p:nvSpPr>
          <p:cNvPr id="269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70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Desarrollo con IA</a:t>
            </a:r>
          </a:p>
        </p:txBody>
      </p:sp>
      <p:sp>
        <p:nvSpPr>
          <p:cNvPr id="271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2" name="Text 4"/>
          <p:cNvSpPr txBox="1"/>
          <p:nvPr/>
        </p:nvSpPr>
        <p:spPr>
          <a:xfrm>
            <a:off x="2926079" y="1141351"/>
            <a:ext cx="3291841" cy="9176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~70%</a:t>
            </a:r>
          </a:p>
        </p:txBody>
      </p:sp>
      <p:sp>
        <p:nvSpPr>
          <p:cNvPr id="273" name="Text 5"/>
          <p:cNvSpPr txBox="1"/>
          <p:nvPr/>
        </p:nvSpPr>
        <p:spPr>
          <a:xfrm>
            <a:off x="2560320" y="2138197"/>
            <a:ext cx="4023360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del código generado con IA</a:t>
            </a:r>
          </a:p>
        </p:txBody>
      </p:sp>
      <p:sp>
        <p:nvSpPr>
          <p:cNvPr id="274" name="Shape 6"/>
          <p:cNvSpPr/>
          <p:nvPr/>
        </p:nvSpPr>
        <p:spPr>
          <a:xfrm>
            <a:off x="457200" y="2514600"/>
            <a:ext cx="8229601" cy="0"/>
          </a:xfrm>
          <a:prstGeom prst="line">
            <a:avLst/>
          </a:prstGeom>
          <a:ln w="635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5" name="Text 7"/>
          <p:cNvSpPr txBox="1"/>
          <p:nvPr/>
        </p:nvSpPr>
        <p:spPr>
          <a:xfrm>
            <a:off x="411480" y="2752128"/>
            <a:ext cx="38404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Herramientas</a:t>
            </a:r>
          </a:p>
        </p:txBody>
      </p:sp>
      <p:sp>
        <p:nvSpPr>
          <p:cNvPr id="276" name="Shape 8"/>
          <p:cNvSpPr/>
          <p:nvPr/>
        </p:nvSpPr>
        <p:spPr>
          <a:xfrm>
            <a:off x="411480" y="3182111"/>
            <a:ext cx="73153" cy="73153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7" name="Text 9"/>
          <p:cNvSpPr txBox="1"/>
          <p:nvPr/>
        </p:nvSpPr>
        <p:spPr>
          <a:xfrm>
            <a:off x="621791" y="3165202"/>
            <a:ext cx="356616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Claude (Anthropic)</a:t>
            </a:r>
          </a:p>
        </p:txBody>
      </p:sp>
      <p:sp>
        <p:nvSpPr>
          <p:cNvPr id="278" name="Text 10"/>
          <p:cNvSpPr txBox="1"/>
          <p:nvPr/>
        </p:nvSpPr>
        <p:spPr>
          <a:xfrm>
            <a:off x="621791" y="3455339"/>
            <a:ext cx="3566161" cy="148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Arquitectura y generación de código</a:t>
            </a:r>
          </a:p>
        </p:txBody>
      </p:sp>
      <p:sp>
        <p:nvSpPr>
          <p:cNvPr id="279" name="Shape 11"/>
          <p:cNvSpPr/>
          <p:nvPr/>
        </p:nvSpPr>
        <p:spPr>
          <a:xfrm>
            <a:off x="411480" y="3867911"/>
            <a:ext cx="73153" cy="73153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0" name="Text 12"/>
          <p:cNvSpPr txBox="1"/>
          <p:nvPr/>
        </p:nvSpPr>
        <p:spPr>
          <a:xfrm>
            <a:off x="621791" y="3851002"/>
            <a:ext cx="356616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GitHub Copilot</a:t>
            </a:r>
          </a:p>
        </p:txBody>
      </p:sp>
      <p:sp>
        <p:nvSpPr>
          <p:cNvPr id="281" name="Text 13"/>
          <p:cNvSpPr txBox="1"/>
          <p:nvPr/>
        </p:nvSpPr>
        <p:spPr>
          <a:xfrm>
            <a:off x="621791" y="4141139"/>
            <a:ext cx="3566161" cy="148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Autocompletado en el editor</a:t>
            </a:r>
          </a:p>
        </p:txBody>
      </p:sp>
      <p:sp>
        <p:nvSpPr>
          <p:cNvPr id="282" name="Shape 14"/>
          <p:cNvSpPr/>
          <p:nvPr/>
        </p:nvSpPr>
        <p:spPr>
          <a:xfrm flipH="1">
            <a:off x="4434840" y="2697479"/>
            <a:ext cx="1" cy="2011680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3" name="Text 15"/>
          <p:cNvSpPr txBox="1"/>
          <p:nvPr/>
        </p:nvSpPr>
        <p:spPr>
          <a:xfrm>
            <a:off x="4754879" y="2752128"/>
            <a:ext cx="3977641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 prompts clave</a:t>
            </a:r>
          </a:p>
        </p:txBody>
      </p:sp>
      <p:sp>
        <p:nvSpPr>
          <p:cNvPr id="284" name="Text 16"/>
          <p:cNvSpPr txBox="1"/>
          <p:nvPr/>
        </p:nvSpPr>
        <p:spPr>
          <a:xfrm>
            <a:off x="4754879" y="3183490"/>
            <a:ext cx="256033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85" name="Text 17"/>
          <p:cNvSpPr txBox="1"/>
          <p:nvPr/>
        </p:nvSpPr>
        <p:spPr>
          <a:xfrm>
            <a:off x="5120640" y="3195929"/>
            <a:ext cx="36118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Diseño del pipeline sklearn + justificaciones</a:t>
            </a:r>
          </a:p>
        </p:txBody>
      </p:sp>
      <p:sp>
        <p:nvSpPr>
          <p:cNvPr id="286" name="Text 18"/>
          <p:cNvSpPr txBox="1"/>
          <p:nvPr/>
        </p:nvSpPr>
        <p:spPr>
          <a:xfrm>
            <a:off x="4754879" y="3750418"/>
            <a:ext cx="256033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87" name="Text 19"/>
          <p:cNvSpPr txBox="1"/>
          <p:nvPr/>
        </p:nvSpPr>
        <p:spPr>
          <a:xfrm>
            <a:off x="5120640" y="3762857"/>
            <a:ext cx="36118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Docker Compose hospitalario (6 servicios)</a:t>
            </a:r>
          </a:p>
        </p:txBody>
      </p:sp>
      <p:sp>
        <p:nvSpPr>
          <p:cNvPr id="288" name="Text 20"/>
          <p:cNvSpPr txBox="1"/>
          <p:nvPr/>
        </p:nvSpPr>
        <p:spPr>
          <a:xfrm>
            <a:off x="4754879" y="4317346"/>
            <a:ext cx="256033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89" name="Text 21"/>
          <p:cNvSpPr txBox="1"/>
          <p:nvPr/>
        </p:nvSpPr>
        <p:spPr>
          <a:xfrm>
            <a:off x="5120640" y="4329785"/>
            <a:ext cx="36118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Autenticación JWT con roles y reset de contraseña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8 · JUSTIFICACIONES TÉCNICAS</a:t>
            </a:r>
          </a:p>
        </p:txBody>
      </p:sp>
      <p:sp>
        <p:nvSpPr>
          <p:cNvPr id="292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293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Por qué estas tecnologías</a:t>
            </a:r>
          </a:p>
        </p:txBody>
      </p:sp>
      <p:sp>
        <p:nvSpPr>
          <p:cNvPr id="294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5" name="Shape 4"/>
          <p:cNvSpPr/>
          <p:nvPr/>
        </p:nvSpPr>
        <p:spPr>
          <a:xfrm>
            <a:off x="411479" y="1170432"/>
            <a:ext cx="8321042" cy="65836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Text 5"/>
          <p:cNvSpPr txBox="1"/>
          <p:nvPr/>
        </p:nvSpPr>
        <p:spPr>
          <a:xfrm>
            <a:off x="594359" y="1394244"/>
            <a:ext cx="1645922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PostgreSQL</a:t>
            </a:r>
          </a:p>
        </p:txBody>
      </p:sp>
      <p:sp>
        <p:nvSpPr>
          <p:cNvPr id="297" name="Shape 6"/>
          <p:cNvSpPr/>
          <p:nvPr/>
        </p:nvSpPr>
        <p:spPr>
          <a:xfrm>
            <a:off x="2331720" y="1307591"/>
            <a:ext cx="1" cy="384049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8" name="Text 7"/>
          <p:cNvSpPr txBox="1"/>
          <p:nvPr/>
        </p:nvSpPr>
        <p:spPr>
          <a:xfrm>
            <a:off x="2514599" y="1406677"/>
            <a:ext cx="6035042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Transacciones ACID  ·  JSONB  ·  Estándar médico</a:t>
            </a:r>
          </a:p>
        </p:txBody>
      </p:sp>
      <p:sp>
        <p:nvSpPr>
          <p:cNvPr id="299" name="Text 8"/>
          <p:cNvSpPr txBox="1"/>
          <p:nvPr/>
        </p:nvSpPr>
        <p:spPr>
          <a:xfrm>
            <a:off x="594359" y="2144052"/>
            <a:ext cx="1645922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MinIO</a:t>
            </a:r>
          </a:p>
        </p:txBody>
      </p:sp>
      <p:sp>
        <p:nvSpPr>
          <p:cNvPr id="300" name="Shape 9"/>
          <p:cNvSpPr/>
          <p:nvPr/>
        </p:nvSpPr>
        <p:spPr>
          <a:xfrm>
            <a:off x="2331720" y="2057400"/>
            <a:ext cx="1" cy="384049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1" name="Text 10"/>
          <p:cNvSpPr txBox="1"/>
          <p:nvPr/>
        </p:nvSpPr>
        <p:spPr>
          <a:xfrm>
            <a:off x="2514599" y="2156485"/>
            <a:ext cx="6035042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S3-compatible  ·  Escalable  ·  Local-first</a:t>
            </a:r>
          </a:p>
        </p:txBody>
      </p:sp>
      <p:sp>
        <p:nvSpPr>
          <p:cNvPr id="302" name="Shape 11"/>
          <p:cNvSpPr/>
          <p:nvPr/>
        </p:nvSpPr>
        <p:spPr>
          <a:xfrm>
            <a:off x="411479" y="2670048"/>
            <a:ext cx="8321042" cy="65836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3" name="Text 12"/>
          <p:cNvSpPr txBox="1"/>
          <p:nvPr/>
        </p:nvSpPr>
        <p:spPr>
          <a:xfrm>
            <a:off x="594359" y="2893860"/>
            <a:ext cx="1645922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FastAPI</a:t>
            </a:r>
          </a:p>
        </p:txBody>
      </p:sp>
      <p:sp>
        <p:nvSpPr>
          <p:cNvPr id="304" name="Shape 13"/>
          <p:cNvSpPr/>
          <p:nvPr/>
        </p:nvSpPr>
        <p:spPr>
          <a:xfrm>
            <a:off x="2331720" y="2807207"/>
            <a:ext cx="1" cy="384049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5" name="Text 14"/>
          <p:cNvSpPr txBox="1"/>
          <p:nvPr/>
        </p:nvSpPr>
        <p:spPr>
          <a:xfrm>
            <a:off x="2514599" y="2906293"/>
            <a:ext cx="6035042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Pydantic  ·  OpenAPI automático  ·  Alto rendimiento</a:t>
            </a:r>
          </a:p>
        </p:txBody>
      </p:sp>
      <p:sp>
        <p:nvSpPr>
          <p:cNvPr id="306" name="Text 15"/>
          <p:cNvSpPr txBox="1"/>
          <p:nvPr/>
        </p:nvSpPr>
        <p:spPr>
          <a:xfrm>
            <a:off x="594359" y="3643668"/>
            <a:ext cx="1645922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JWT</a:t>
            </a:r>
          </a:p>
        </p:txBody>
      </p:sp>
      <p:sp>
        <p:nvSpPr>
          <p:cNvPr id="307" name="Shape 16"/>
          <p:cNvSpPr/>
          <p:nvPr/>
        </p:nvSpPr>
        <p:spPr>
          <a:xfrm>
            <a:off x="2331720" y="3557015"/>
            <a:ext cx="1" cy="384049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8" name="Text 17"/>
          <p:cNvSpPr txBox="1"/>
          <p:nvPr/>
        </p:nvSpPr>
        <p:spPr>
          <a:xfrm>
            <a:off x="2514599" y="3656101"/>
            <a:ext cx="6035042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Stateless  ·  Roles  ·  Sin estado en servidor</a:t>
            </a:r>
          </a:p>
        </p:txBody>
      </p:sp>
      <p:sp>
        <p:nvSpPr>
          <p:cNvPr id="309" name="Shape 18"/>
          <p:cNvSpPr/>
          <p:nvPr/>
        </p:nvSpPr>
        <p:spPr>
          <a:xfrm>
            <a:off x="411479" y="4169664"/>
            <a:ext cx="8321042" cy="658369"/>
          </a:xfrm>
          <a:prstGeom prst="rect">
            <a:avLst/>
          </a:prstGeom>
          <a:solidFill>
            <a:srgbClr val="F0F0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0" name="Text 19"/>
          <p:cNvSpPr txBox="1"/>
          <p:nvPr/>
        </p:nvSpPr>
        <p:spPr>
          <a:xfrm>
            <a:off x="594359" y="4393476"/>
            <a:ext cx="1645922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sklearn</a:t>
            </a:r>
          </a:p>
        </p:txBody>
      </p:sp>
      <p:sp>
        <p:nvSpPr>
          <p:cNvPr id="311" name="Shape 20"/>
          <p:cNvSpPr/>
          <p:nvPr/>
        </p:nvSpPr>
        <p:spPr>
          <a:xfrm>
            <a:off x="2331720" y="4306823"/>
            <a:ext cx="1" cy="384049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2" name="Text 21"/>
          <p:cNvSpPr txBox="1"/>
          <p:nvPr/>
        </p:nvSpPr>
        <p:spPr>
          <a:xfrm>
            <a:off x="2514599" y="4405909"/>
            <a:ext cx="6035042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Sin GPU  ·  Rápido  ·  Serializable con joblib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0"/>
          <p:cNvSpPr txBox="1"/>
          <p:nvPr/>
        </p:nvSpPr>
        <p:spPr>
          <a:xfrm>
            <a:off x="411480" y="238251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7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9 · REFLEXIÓN CRÍTICA</a:t>
            </a:r>
          </a:p>
        </p:txBody>
      </p:sp>
      <p:sp>
        <p:nvSpPr>
          <p:cNvPr id="315" name="Text 1"/>
          <p:cNvSpPr txBox="1"/>
          <p:nvPr/>
        </p:nvSpPr>
        <p:spPr>
          <a:xfrm>
            <a:off x="8412480" y="4837683"/>
            <a:ext cx="320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D2D2D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316" name="Text 2"/>
          <p:cNvSpPr txBox="1"/>
          <p:nvPr/>
        </p:nvSpPr>
        <p:spPr>
          <a:xfrm>
            <a:off x="411479" y="524955"/>
            <a:ext cx="8321042" cy="458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Limitaciones y mejoras</a:t>
            </a:r>
          </a:p>
        </p:txBody>
      </p:sp>
      <p:sp>
        <p:nvSpPr>
          <p:cNvPr id="317" name="Shape 3"/>
          <p:cNvSpPr/>
          <p:nvPr/>
        </p:nvSpPr>
        <p:spPr>
          <a:xfrm>
            <a:off x="457200" y="960119"/>
            <a:ext cx="8229601" cy="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8" name="Text 4"/>
          <p:cNvSpPr txBox="1"/>
          <p:nvPr/>
        </p:nvSpPr>
        <p:spPr>
          <a:xfrm>
            <a:off x="411480" y="1205198"/>
            <a:ext cx="3840480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Limitaciones</a:t>
            </a:r>
          </a:p>
        </p:txBody>
      </p:sp>
      <p:sp>
        <p:nvSpPr>
          <p:cNvPr id="319" name="Shape 5"/>
          <p:cNvSpPr/>
          <p:nvPr/>
        </p:nvSpPr>
        <p:spPr>
          <a:xfrm>
            <a:off x="411480" y="1627632"/>
            <a:ext cx="45721" cy="47548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0" name="Text 6"/>
          <p:cNvSpPr txBox="1"/>
          <p:nvPr/>
        </p:nvSpPr>
        <p:spPr>
          <a:xfrm>
            <a:off x="594359" y="1769968"/>
            <a:ext cx="3520442" cy="190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Dataset sintético → sin validez clínica real</a:t>
            </a:r>
          </a:p>
        </p:txBody>
      </p:sp>
      <p:sp>
        <p:nvSpPr>
          <p:cNvPr id="321" name="Shape 7"/>
          <p:cNvSpPr/>
          <p:nvPr/>
        </p:nvSpPr>
        <p:spPr>
          <a:xfrm>
            <a:off x="411480" y="2432304"/>
            <a:ext cx="45721" cy="47548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2" name="Text 8"/>
          <p:cNvSpPr txBox="1"/>
          <p:nvPr/>
        </p:nvSpPr>
        <p:spPr>
          <a:xfrm>
            <a:off x="594359" y="2574640"/>
            <a:ext cx="3520442" cy="190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Modelo caja negra → sin explicabilidad</a:t>
            </a:r>
          </a:p>
        </p:txBody>
      </p:sp>
      <p:sp>
        <p:nvSpPr>
          <p:cNvPr id="323" name="Shape 9"/>
          <p:cNvSpPr/>
          <p:nvPr/>
        </p:nvSpPr>
        <p:spPr>
          <a:xfrm>
            <a:off x="411480" y="3236976"/>
            <a:ext cx="45721" cy="47548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4" name="Text 10"/>
          <p:cNvSpPr txBox="1"/>
          <p:nvPr/>
        </p:nvSpPr>
        <p:spPr>
          <a:xfrm>
            <a:off x="594359" y="3387953"/>
            <a:ext cx="3520442" cy="173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Sin monitorización de drift en producción</a:t>
            </a:r>
          </a:p>
        </p:txBody>
      </p:sp>
      <p:sp>
        <p:nvSpPr>
          <p:cNvPr id="325" name="Shape 11"/>
          <p:cNvSpPr/>
          <p:nvPr/>
        </p:nvSpPr>
        <p:spPr>
          <a:xfrm flipH="1">
            <a:off x="4434840" y="1143000"/>
            <a:ext cx="1" cy="2743201"/>
          </a:xfrm>
          <a:prstGeom prst="line">
            <a:avLst/>
          </a:prstGeom>
          <a:ln w="6350">
            <a:solidFill>
              <a:srgbClr val="D2D2D7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6" name="Text 12"/>
          <p:cNvSpPr txBox="1"/>
          <p:nvPr/>
        </p:nvSpPr>
        <p:spPr>
          <a:xfrm>
            <a:off x="4663440" y="1205198"/>
            <a:ext cx="4023360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Mejoras previstas</a:t>
            </a:r>
          </a:p>
        </p:txBody>
      </p:sp>
      <p:sp>
        <p:nvSpPr>
          <p:cNvPr id="327" name="Shape 13"/>
          <p:cNvSpPr/>
          <p:nvPr/>
        </p:nvSpPr>
        <p:spPr>
          <a:xfrm>
            <a:off x="4663440" y="1627632"/>
            <a:ext cx="45721" cy="47548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8" name="Text 14"/>
          <p:cNvSpPr txBox="1"/>
          <p:nvPr/>
        </p:nvSpPr>
        <p:spPr>
          <a:xfrm>
            <a:off x="4846320" y="1778609"/>
            <a:ext cx="3840481" cy="173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EfficientNetB4 + datos reales (COVIDx)</a:t>
            </a:r>
          </a:p>
        </p:txBody>
      </p:sp>
      <p:sp>
        <p:nvSpPr>
          <p:cNvPr id="329" name="Shape 15"/>
          <p:cNvSpPr/>
          <p:nvPr/>
        </p:nvSpPr>
        <p:spPr>
          <a:xfrm>
            <a:off x="4663440" y="2432304"/>
            <a:ext cx="45721" cy="47548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0" name="Text 16"/>
          <p:cNvSpPr txBox="1"/>
          <p:nvPr/>
        </p:nvSpPr>
        <p:spPr>
          <a:xfrm>
            <a:off x="4846320" y="2583281"/>
            <a:ext cx="3840481" cy="173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GradCAM para explicabilidad</a:t>
            </a:r>
          </a:p>
        </p:txBody>
      </p:sp>
      <p:sp>
        <p:nvSpPr>
          <p:cNvPr id="331" name="Shape 17"/>
          <p:cNvSpPr/>
          <p:nvPr/>
        </p:nvSpPr>
        <p:spPr>
          <a:xfrm>
            <a:off x="4663440" y="3236976"/>
            <a:ext cx="45721" cy="47548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2" name="Text 18"/>
          <p:cNvSpPr txBox="1"/>
          <p:nvPr/>
        </p:nvSpPr>
        <p:spPr>
          <a:xfrm>
            <a:off x="4846320" y="3387953"/>
            <a:ext cx="3840481" cy="173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42424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Airflow + Grafana para orquestación</a:t>
            </a:r>
          </a:p>
        </p:txBody>
      </p:sp>
      <p:sp>
        <p:nvSpPr>
          <p:cNvPr id="333" name="Shape 19"/>
          <p:cNvSpPr/>
          <p:nvPr/>
        </p:nvSpPr>
        <p:spPr>
          <a:xfrm>
            <a:off x="457200" y="4315967"/>
            <a:ext cx="8229601" cy="1"/>
          </a:xfrm>
          <a:prstGeom prst="line">
            <a:avLst/>
          </a:prstGeom>
          <a:ln w="6350">
            <a:solidFill>
              <a:srgbClr val="EBEBED"/>
            </a:solidFill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 1"/>
          <p:cNvSpPr txBox="1"/>
          <p:nvPr/>
        </p:nvSpPr>
        <p:spPr>
          <a:xfrm>
            <a:off x="548640" y="1995786"/>
            <a:ext cx="8046719" cy="508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3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La Salle Health Center</a:t>
            </a:r>
          </a:p>
        </p:txBody>
      </p:sp>
      <p:sp>
        <p:nvSpPr>
          <p:cNvPr id="336" name="Shape 2"/>
          <p:cNvSpPr/>
          <p:nvPr/>
        </p:nvSpPr>
        <p:spPr>
          <a:xfrm>
            <a:off x="3474720" y="2670498"/>
            <a:ext cx="2194561" cy="1"/>
          </a:xfrm>
          <a:prstGeom prst="line">
            <a:avLst/>
          </a:prstGeom>
          <a:ln w="19050">
            <a:solidFill>
              <a:srgbClr val="0071E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7" name="Text 3"/>
          <p:cNvSpPr txBox="1"/>
          <p:nvPr/>
        </p:nvSpPr>
        <p:spPr>
          <a:xfrm>
            <a:off x="548640" y="2924802"/>
            <a:ext cx="8046719" cy="222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¡Gracias por vuestra atención!</a:t>
            </a:r>
          </a:p>
        </p:txBody>
      </p:sp>
      <p:sp>
        <p:nvSpPr>
          <p:cNvPr id="338" name="Text 0"/>
          <p:cNvSpPr txBox="1"/>
          <p:nvPr/>
        </p:nvSpPr>
        <p:spPr>
          <a:xfrm>
            <a:off x="4206239" y="1045131"/>
            <a:ext cx="731522" cy="793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200">
                <a:solidFill>
                  <a:srgbClr val="0071E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+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
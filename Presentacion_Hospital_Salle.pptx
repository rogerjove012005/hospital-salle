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0" y="411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Sistema Inteligente de Soporte Hospitalario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474720" y="2487168"/>
            <a:ext cx="2194560" cy="0"/>
          </a:xfrm>
          <a:prstGeom prst="line">
            <a:avLst/>
          </a:prstGeom>
          <a:noFill/>
          <a:ln w="19050">
            <a:solidFill>
              <a:srgbClr val="0071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606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laSalle Health Center · IA &amp; Big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2D2D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Programació d'Intel·ligència Artificial  ·  La Salle Barcelona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ÍNDICE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2D2D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Contenido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Descripción del problema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3840480" cy="0"/>
          </a:xfrm>
          <a:prstGeom prst="line">
            <a:avLst/>
          </a:prstGeom>
          <a:noFill/>
          <a:ln w="3810">
            <a:solidFill>
              <a:srgbClr val="EBEB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105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Datos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295144"/>
            <a:ext cx="3840480" cy="0"/>
          </a:xfrm>
          <a:prstGeom prst="line">
            <a:avLst/>
          </a:prstGeom>
          <a:noFill/>
          <a:ln w="3810">
            <a:solidFill>
              <a:srgbClr val="EBEB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7802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Arquitectura del sistema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962656"/>
            <a:ext cx="3840480" cy="0"/>
          </a:xfrm>
          <a:prstGeom prst="line">
            <a:avLst/>
          </a:prstGeom>
          <a:noFill/>
          <a:ln w="3810">
            <a:solidFill>
              <a:srgbClr val="EBEB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14553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Modelos de IA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630168"/>
            <a:ext cx="3840480" cy="0"/>
          </a:xfrm>
          <a:prstGeom prst="line">
            <a:avLst/>
          </a:prstGeom>
          <a:noFill/>
          <a:ln w="3810">
            <a:solidFill>
              <a:srgbClr val="EBEB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130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Automatizaciones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1430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Integraciones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1627632"/>
            <a:ext cx="3840480" cy="0"/>
          </a:xfrm>
          <a:prstGeom prst="line">
            <a:avLst/>
          </a:prstGeom>
          <a:noFill/>
          <a:ln w="3810">
            <a:solidFill>
              <a:srgbClr val="EBEB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8105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Diario de desarrollo con IA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00600" y="2295144"/>
            <a:ext cx="3840480" cy="0"/>
          </a:xfrm>
          <a:prstGeom prst="line">
            <a:avLst/>
          </a:prstGeom>
          <a:noFill/>
          <a:ln w="3810">
            <a:solidFill>
              <a:srgbClr val="EBEB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47802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Justificaciones técnicas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00600" y="2962656"/>
            <a:ext cx="3840480" cy="0"/>
          </a:xfrm>
          <a:prstGeom prst="line">
            <a:avLst/>
          </a:prstGeom>
          <a:noFill/>
          <a:ln w="3810">
            <a:solidFill>
              <a:srgbClr val="EBEB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14553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Reflexión crítica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3630168"/>
            <a:ext cx="3840480" cy="0"/>
          </a:xfrm>
          <a:prstGeom prst="line">
            <a:avLst/>
          </a:prstGeom>
          <a:noFill/>
          <a:ln w="3810">
            <a:solidFill>
              <a:srgbClr val="EBEB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8130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Consideraciones éticas y legales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· DESCRIPCIÓN DEL PROBLEMA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2D2D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problema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3000"/>
            <a:ext cx="3291840" cy="3383280"/>
          </a:xfrm>
          <a:prstGeom prst="rect">
            <a:avLst/>
          </a:prstGeom>
          <a:solidFill>
            <a:srgbClr val="F0F0F2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4630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100s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11480" y="26517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radiografías / día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30175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2D2D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Carga real de los radiólogos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0" y="1481328"/>
            <a:ext cx="91440" cy="91440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15968" y="14173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Fatiga visual → errores de diagnóstico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0" y="1920240"/>
            <a:ext cx="4572000" cy="0"/>
          </a:xfrm>
          <a:prstGeom prst="line">
            <a:avLst/>
          </a:prstGeom>
          <a:noFill/>
          <a:ln w="3810">
            <a:solidFill>
              <a:srgbClr val="EBEB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2487168"/>
            <a:ext cx="91440" cy="91440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5968" y="24231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COVID-19 y neumonía requieren detección rápida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0" y="2926080"/>
            <a:ext cx="4572000" cy="0"/>
          </a:xfrm>
          <a:prstGeom prst="line">
            <a:avLst/>
          </a:prstGeom>
          <a:noFill/>
          <a:ln w="3810">
            <a:solidFill>
              <a:srgbClr val="EBEB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0" y="3493008"/>
            <a:ext cx="91440" cy="91440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15968" y="34290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Los hospitales necesitan herramientas de soporte inteligente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· OBJETIVOS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2D2D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Qué hemos construido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2633472" cy="3383280"/>
          </a:xfrm>
          <a:prstGeom prst="rect">
            <a:avLst/>
          </a:prstGeom>
          <a:solidFill>
            <a:srgbClr val="F0F0F2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41732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◉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11480" y="1234440"/>
            <a:ext cx="2633472" cy="5486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05740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Modelo IA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23591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Clasificación de radiografías en 3 clases: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COVID-19 · Neumonía · Normal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18688" y="1234440"/>
            <a:ext cx="2633472" cy="3383280"/>
          </a:xfrm>
          <a:prstGeom prst="rect">
            <a:avLst/>
          </a:prstGeom>
          <a:solidFill>
            <a:srgbClr val="F0F0F2"/>
          </a:solidFill>
          <a:ln/>
        </p:spPr>
      </p:sp>
      <p:sp>
        <p:nvSpPr>
          <p:cNvPr id="12" name="Text 10"/>
          <p:cNvSpPr/>
          <p:nvPr/>
        </p:nvSpPr>
        <p:spPr>
          <a:xfrm>
            <a:off x="3218688" y="141732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⬡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3218688" y="1234440"/>
            <a:ext cx="2633472" cy="5486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8688" y="205740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Infraestructura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355848" y="2514600"/>
            <a:ext cx="23591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Pipeline containerizado con Docker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servicios · Red interna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25896" y="1234440"/>
            <a:ext cx="2633472" cy="3383280"/>
          </a:xfrm>
          <a:prstGeom prst="rect">
            <a:avLst/>
          </a:prstGeom>
          <a:solidFill>
            <a:srgbClr val="F0F0F2"/>
          </a:solidFill>
          <a:ln/>
        </p:spPr>
      </p:sp>
      <p:sp>
        <p:nvSpPr>
          <p:cNvPr id="17" name="Text 15"/>
          <p:cNvSpPr/>
          <p:nvPr/>
        </p:nvSpPr>
        <p:spPr>
          <a:xfrm>
            <a:off x="6025896" y="141732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⊕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6025896" y="1234440"/>
            <a:ext cx="2633472" cy="5486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25896" y="205740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Portal Web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163056" y="2514600"/>
            <a:ext cx="23591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Acceso seguro para pacientes y médicos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Autenticación JWT · Roles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· DATOS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2D2D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Los datos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Chest X-Ray COVID-19 &amp; Pneumonia · Kaggle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2633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300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imágenes sintéticas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21868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2D2D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 desarrollo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36392" y="1600200"/>
            <a:ext cx="0" cy="192024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600200"/>
            <a:ext cx="2633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3310128" y="283464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clases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10128" y="321868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2D2D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COVID-19 · Neumonía · Normal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600200"/>
            <a:ext cx="0" cy="192024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17336" y="1600200"/>
            <a:ext cx="2633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70/10/20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6117336" y="283464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split (%)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17336" y="321868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2D2D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Train · Val · Test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466344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2D2D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Dataset completo disponible en Kaggle para producción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· DATOS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2D2D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Transformación de datos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1645920" cy="1005840"/>
          </a:xfrm>
          <a:prstGeom prst="rect">
            <a:avLst/>
          </a:prstGeom>
          <a:solidFill>
            <a:srgbClr val="F0F0F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44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Escala gris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03120" y="162763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2D2D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514600" y="1371600"/>
            <a:ext cx="1645920" cy="1005840"/>
          </a:xfrm>
          <a:prstGeom prst="rect">
            <a:avLst/>
          </a:prstGeom>
          <a:solidFill>
            <a:srgbClr val="F0F0F2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444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7373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224×224 px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60520" y="162763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2D2D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0" y="1371600"/>
            <a:ext cx="1645920" cy="1005840"/>
          </a:xfrm>
          <a:prstGeom prst="rect">
            <a:avLst/>
          </a:prstGeom>
          <a:solidFill>
            <a:srgbClr val="F0F0F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444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7373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Norm. 0–1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162763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2D2D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629400" y="1371600"/>
            <a:ext cx="1645920" cy="1005840"/>
          </a:xfrm>
          <a:prstGeom prst="rect">
            <a:avLst/>
          </a:prstGeom>
          <a:solidFill>
            <a:srgbClr val="F0F0F2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444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7373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canales RGB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27432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Augmentation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" y="3127248"/>
            <a:ext cx="1783080" cy="411480"/>
          </a:xfrm>
          <a:prstGeom prst="rect">
            <a:avLst/>
          </a:prstGeom>
          <a:solidFill>
            <a:srgbClr val="F0F0F2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12724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±20° rotación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450592" y="3127248"/>
            <a:ext cx="1783080" cy="411480"/>
          </a:xfrm>
          <a:prstGeom prst="rect">
            <a:avLst/>
          </a:prstGeom>
          <a:solidFill>
            <a:srgbClr val="F0F0F2"/>
          </a:solidFill>
          <a:ln/>
        </p:spPr>
      </p:sp>
      <p:sp>
        <p:nvSpPr>
          <p:cNvPr id="25" name="Text 23"/>
          <p:cNvSpPr/>
          <p:nvPr/>
        </p:nvSpPr>
        <p:spPr>
          <a:xfrm>
            <a:off x="2450592" y="312724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±20% desplazamiento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89704" y="3127248"/>
            <a:ext cx="1783080" cy="411480"/>
          </a:xfrm>
          <a:prstGeom prst="rect">
            <a:avLst/>
          </a:prstGeom>
          <a:solidFill>
            <a:srgbClr val="F0F0F2"/>
          </a:solidFill>
          <a:ln/>
        </p:spPr>
      </p:sp>
      <p:sp>
        <p:nvSpPr>
          <p:cNvPr id="27" name="Text 25"/>
          <p:cNvSpPr/>
          <p:nvPr/>
        </p:nvSpPr>
        <p:spPr>
          <a:xfrm>
            <a:off x="4489704" y="312724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Flip horizontal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28816" y="3127248"/>
            <a:ext cx="1783080" cy="411480"/>
          </a:xfrm>
          <a:prstGeom prst="rect">
            <a:avLst/>
          </a:prstGeom>
          <a:solidFill>
            <a:srgbClr val="F0F0F2"/>
          </a:solidFill>
          <a:ln/>
        </p:spPr>
      </p:sp>
      <p:sp>
        <p:nvSpPr>
          <p:cNvPr id="29" name="Text 27"/>
          <p:cNvSpPr/>
          <p:nvPr/>
        </p:nvSpPr>
        <p:spPr>
          <a:xfrm>
            <a:off x="6528816" y="312724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±20% brillo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· ARQUITECTURA DEL SISTEMA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2D2D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Arquitectura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servicios · Docker Compose · Red interna hospital_net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554480"/>
            <a:ext cx="2487168" cy="1389888"/>
          </a:xfrm>
          <a:prstGeom prst="rect">
            <a:avLst/>
          </a:prstGeom>
          <a:solidFill>
            <a:srgbClr val="F0F0F2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" y="1554480"/>
            <a:ext cx="2487168" cy="4572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645920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◈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8912" y="212140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PostgreSQL 16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248716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:5432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18688" y="1554480"/>
            <a:ext cx="2487168" cy="1389888"/>
          </a:xfrm>
          <a:prstGeom prst="rect">
            <a:avLst/>
          </a:prstGeom>
          <a:solidFill>
            <a:srgbClr val="F0F0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218688" y="1554480"/>
            <a:ext cx="2487168" cy="4572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8688" y="1645920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◉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18688" y="212140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MinIO S3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18688" y="248716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:9000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98464" y="1554480"/>
            <a:ext cx="2487168" cy="1389888"/>
          </a:xfrm>
          <a:prstGeom prst="rect">
            <a:avLst/>
          </a:prstGeom>
          <a:solidFill>
            <a:srgbClr val="F0F0F2"/>
          </a:solidFill>
          <a:ln/>
        </p:spPr>
      </p:sp>
      <p:sp>
        <p:nvSpPr>
          <p:cNvPr id="18" name="Shape 16"/>
          <p:cNvSpPr/>
          <p:nvPr/>
        </p:nvSpPr>
        <p:spPr>
          <a:xfrm>
            <a:off x="5998464" y="1554480"/>
            <a:ext cx="2487168" cy="4572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98464" y="1645920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✉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998464" y="212140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Mailpit SMTP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98464" y="248716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:8025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" y="3200400"/>
            <a:ext cx="2487168" cy="1389888"/>
          </a:xfrm>
          <a:prstGeom prst="rect">
            <a:avLst/>
          </a:prstGeom>
          <a:solidFill>
            <a:srgbClr val="F0F0F2"/>
          </a:solidFill>
          <a:ln/>
        </p:spPr>
      </p:sp>
      <p:sp>
        <p:nvSpPr>
          <p:cNvPr id="23" name="Shape 21"/>
          <p:cNvSpPr/>
          <p:nvPr/>
        </p:nvSpPr>
        <p:spPr>
          <a:xfrm>
            <a:off x="438912" y="3200400"/>
            <a:ext cx="2487168" cy="4572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291840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⚡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38912" y="376732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FastAPI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8912" y="413308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:8000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18688" y="3200400"/>
            <a:ext cx="2487168" cy="1389888"/>
          </a:xfrm>
          <a:prstGeom prst="rect">
            <a:avLst/>
          </a:prstGeom>
          <a:solidFill>
            <a:srgbClr val="F0F0F2"/>
          </a:solidFill>
          <a:ln/>
        </p:spPr>
      </p:sp>
      <p:sp>
        <p:nvSpPr>
          <p:cNvPr id="28" name="Shape 26"/>
          <p:cNvSpPr/>
          <p:nvPr/>
        </p:nvSpPr>
        <p:spPr>
          <a:xfrm>
            <a:off x="3218688" y="3200400"/>
            <a:ext cx="2487168" cy="4572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18688" y="3291840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◧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218688" y="376732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pgAdmin 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18688" y="413308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:5050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98464" y="3200400"/>
            <a:ext cx="2487168" cy="1389888"/>
          </a:xfrm>
          <a:prstGeom prst="rect">
            <a:avLst/>
          </a:prstGeom>
          <a:solidFill>
            <a:srgbClr val="F0F0F2"/>
          </a:solidFill>
          <a:ln/>
        </p:spPr>
      </p:sp>
      <p:sp>
        <p:nvSpPr>
          <p:cNvPr id="33" name="Shape 31"/>
          <p:cNvSpPr/>
          <p:nvPr/>
        </p:nvSpPr>
        <p:spPr>
          <a:xfrm>
            <a:off x="5998464" y="3200400"/>
            <a:ext cx="2487168" cy="4572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98464" y="3291840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⊞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998464" y="376732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Frontend nginx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998464" y="413308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:3000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· MODELOS DE IA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2D2D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modelo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70432"/>
            <a:ext cx="3931920" cy="3474720"/>
          </a:xfrm>
          <a:prstGeom prst="rect">
            <a:avLst/>
          </a:prstGeom>
          <a:solidFill>
            <a:srgbClr val="F0F0F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Pipeline sklearn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719072"/>
            <a:ext cx="1280160" cy="256032"/>
          </a:xfrm>
          <a:prstGeom prst="rect">
            <a:avLst/>
          </a:prstGeom>
          <a:solidFill>
            <a:srgbClr val="0071E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Implementado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StandardScaler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578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2D2D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7432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PCA (100 componentes)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0815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2D2D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2461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MLP 256 · 128 · 64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4160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 GPU · Serializable · Rápido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1170432"/>
            <a:ext cx="393192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1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3258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Objetivo de producción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98348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EfficientNetB4 + Transfer Learning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83480" y="2532888"/>
            <a:ext cx="73152" cy="73152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24871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Pre-entrenado en ImageNet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83480" y="2971800"/>
            <a:ext cx="73152" cy="73152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29260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~17 M parámetros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83480" y="3410712"/>
            <a:ext cx="73152" cy="73152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33649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Fine-tuning últimas 20 capas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83480" y="3849624"/>
            <a:ext cx="73152" cy="73152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380390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Alta precisión diagnóstica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83480" y="4160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ImageNet · Alta precisión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· MODELOS DE IA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2D2D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Evaluación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70432"/>
            <a:ext cx="1874520" cy="1371600"/>
          </a:xfrm>
          <a:prstGeom prst="rect">
            <a:avLst/>
          </a:prstGeom>
          <a:solidFill>
            <a:srgbClr val="F0F0F2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42646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Accuracy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94767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Predicciones correctas / total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170432"/>
            <a:ext cx="1874520" cy="1371600"/>
          </a:xfrm>
          <a:prstGeom prst="rect">
            <a:avLst/>
          </a:prstGeom>
          <a:solidFill>
            <a:srgbClr val="F0F0F2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42646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51760" y="194767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TP / (TP + FP)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170432"/>
            <a:ext cx="1874520" cy="1371600"/>
          </a:xfrm>
          <a:prstGeom prst="rect">
            <a:avLst/>
          </a:prstGeom>
          <a:solidFill>
            <a:srgbClr val="F0F0F2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42646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Recall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00600" y="194767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TP / (TP + FN)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1170432"/>
            <a:ext cx="1874520" cy="1371600"/>
          </a:xfrm>
          <a:prstGeom prst="rect">
            <a:avLst/>
          </a:prstGeom>
          <a:solidFill>
            <a:srgbClr val="F0F0F2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142646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F1-Score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49440" y="194767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Media armónica P · 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28163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Errores clínicos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200400"/>
            <a:ext cx="54864" cy="3840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2278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FN COVID-19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03120" y="3255264"/>
            <a:ext cx="123444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CRÍTICO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20440" y="32278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Paciente no detectado → riesgo de contagio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3749040"/>
            <a:ext cx="54864" cy="38404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7764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FN Neumonía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103120" y="3803904"/>
            <a:ext cx="123444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IMPORTANTE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20440" y="377647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Retraso en tratamiento antibiótico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1480" y="4297680"/>
            <a:ext cx="54864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3251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FP COVID-19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103120" y="4352544"/>
            <a:ext cx="123444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TOLERABLE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520440" y="43251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Aislamiento preventivo → confirmación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· AUTOMATIZACIONES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2D2D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Automatizaciones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61872"/>
            <a:ext cx="8321040" cy="960120"/>
          </a:xfrm>
          <a:prstGeom prst="rect">
            <a:avLst/>
          </a:prstGeom>
          <a:solidFill>
            <a:srgbClr val="F0F0F2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444752"/>
            <a:ext cx="566928" cy="5669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26464"/>
            <a:ext cx="566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53312" y="137160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Recuperación de contraseña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53312" y="17373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Tokens de un solo uso  ·  TTL 30 min  ·  SMTP / Mailpit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450592"/>
            <a:ext cx="8321040" cy="960120"/>
          </a:xfrm>
          <a:prstGeom prst="rect">
            <a:avLst/>
          </a:prstGeom>
          <a:solidFill>
            <a:srgbClr val="F0F0F2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2633472"/>
            <a:ext cx="566928" cy="5669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15184"/>
            <a:ext cx="566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◎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53312" y="256032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Alertas de pipeline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29260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Eventos registrados en pipeline_events  ·  PostgreSQL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639312"/>
            <a:ext cx="8321040" cy="960120"/>
          </a:xfrm>
          <a:prstGeom prst="rect">
            <a:avLst/>
          </a:prstGeom>
          <a:solidFill>
            <a:srgbClr val="F0F0F2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3822192"/>
            <a:ext cx="566928" cy="5669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803904"/>
            <a:ext cx="566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53312" y="374904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Movimiento de ficheros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53312" y="41148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Ingesta  →  Procesamiento  →  Archivo automático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· INTEGRACIONES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2D2D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Flujo de datos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71600"/>
            <a:ext cx="1645920" cy="868680"/>
          </a:xfrm>
          <a:prstGeom prst="rect">
            <a:avLst/>
          </a:prstGeom>
          <a:solidFill>
            <a:srgbClr val="F0F0F2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4630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Usuario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57400" y="1572768"/>
            <a:ext cx="57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2D2D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636520" y="1371600"/>
            <a:ext cx="1645920" cy="868680"/>
          </a:xfrm>
          <a:prstGeom prst="rect">
            <a:avLst/>
          </a:prstGeom>
          <a:solidFill>
            <a:srgbClr val="F0F0F2"/>
          </a:solidFill>
          <a:ln/>
        </p:spPr>
      </p:sp>
      <p:sp>
        <p:nvSpPr>
          <p:cNvPr id="10" name="Text 8"/>
          <p:cNvSpPr/>
          <p:nvPr/>
        </p:nvSpPr>
        <p:spPr>
          <a:xfrm>
            <a:off x="2636520" y="14630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36520" y="19385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nginx :3000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82440" y="1572768"/>
            <a:ext cx="57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2D2D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861560" y="1371600"/>
            <a:ext cx="1645920" cy="868680"/>
          </a:xfrm>
          <a:prstGeom prst="rect">
            <a:avLst/>
          </a:prstGeom>
          <a:solidFill>
            <a:srgbClr val="F0F0F2"/>
          </a:solidFill>
          <a:ln/>
        </p:spPr>
      </p:sp>
      <p:sp>
        <p:nvSpPr>
          <p:cNvPr id="14" name="Text 12"/>
          <p:cNvSpPr/>
          <p:nvPr/>
        </p:nvSpPr>
        <p:spPr>
          <a:xfrm>
            <a:off x="4861560" y="14630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 FastAPI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61560" y="19385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:8000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07480" y="1572768"/>
            <a:ext cx="57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2D2D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086600" y="1371600"/>
            <a:ext cx="1645920" cy="868680"/>
          </a:xfrm>
          <a:prstGeom prst="rect">
            <a:avLst/>
          </a:prstGeom>
          <a:solidFill>
            <a:srgbClr val="F0F0F2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14630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PostgreSQL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/ MinIO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84520" y="2240280"/>
            <a:ext cx="0" cy="960120"/>
          </a:xfrm>
          <a:prstGeom prst="line">
            <a:avLst/>
          </a:prstGeom>
          <a:noFill/>
          <a:ln w="12700">
            <a:solidFill>
              <a:srgbClr val="D2D2D7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364480" y="2743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2D2D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61560" y="3200400"/>
            <a:ext cx="1645920" cy="822960"/>
          </a:xfrm>
          <a:prstGeom prst="rect">
            <a:avLst/>
          </a:prstGeom>
          <a:solidFill>
            <a:srgbClr val="E8F2FF"/>
          </a:solidFill>
          <a:ln/>
        </p:spPr>
      </p:sp>
      <p:sp>
        <p:nvSpPr>
          <p:cNvPr id="22" name="Text 20"/>
          <p:cNvSpPr/>
          <p:nvPr/>
        </p:nvSpPr>
        <p:spPr>
          <a:xfrm>
            <a:off x="4861560" y="3291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Modelo ML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61560" y="3630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predictions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466344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Autenticación JWT  ·  Roles: admin  ·  médico  ·  paciente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 · DIARIO DE DESARROLLO CON IA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2D2D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Desarrollo con 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0" y="10972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~70%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2560320" y="20848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del código generado con 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8229600" cy="0"/>
          </a:xfrm>
          <a:prstGeom prst="line">
            <a:avLst/>
          </a:prstGeom>
          <a:noFill/>
          <a:ln w="6350">
            <a:solidFill>
              <a:srgbClr val="EBEB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697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Herramientas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3182112"/>
            <a:ext cx="73152" cy="73152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1272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Claude (Anthropic)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" y="34107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Arquitectura y generación de código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867912"/>
            <a:ext cx="73152" cy="73152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813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 Copilot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" y="40965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Autocompletado en el editor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2697480"/>
            <a:ext cx="0" cy="201168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6974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prompts clave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3108960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310896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Diseño del pipeline sklearn + justificaciones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675888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367588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Docker Compose hospitalario (6 servicios)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4242816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20640" y="424281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Autenticación JWT con roles y reset de contraseña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· JUSTIFICACIONES TÉCNICAS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2D2D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Por qué estas tecnologías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70432"/>
            <a:ext cx="8321040" cy="658368"/>
          </a:xfrm>
          <a:prstGeom prst="rect">
            <a:avLst/>
          </a:prstGeom>
          <a:solidFill>
            <a:srgbClr val="F0F0F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31720" y="1307592"/>
            <a:ext cx="0" cy="384048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32588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Transacciones ACID  ·  JSONB  ·  Estándar médico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0756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MinIO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331720" y="2057400"/>
            <a:ext cx="0" cy="384048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207568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S3-compatible  ·  Escalable  ·  Local-first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670048"/>
            <a:ext cx="8321040" cy="658368"/>
          </a:xfrm>
          <a:prstGeom prst="rect">
            <a:avLst/>
          </a:prstGeom>
          <a:solidFill>
            <a:srgbClr val="F0F0F2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8254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FastAPI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331720" y="2807208"/>
            <a:ext cx="0" cy="384048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2825496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Pydantic  ·  OpenAPI automático  ·  Alto rendimiento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35753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JWT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331720" y="3557016"/>
            <a:ext cx="0" cy="384048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3575304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Stateless  ·  Roles  ·  Sin estado en servidor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4169664"/>
            <a:ext cx="8321040" cy="658368"/>
          </a:xfrm>
          <a:prstGeom prst="rect">
            <a:avLst/>
          </a:prstGeom>
          <a:solidFill>
            <a:srgbClr val="F0F0F2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3251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sklearn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331720" y="4306824"/>
            <a:ext cx="0" cy="384048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14600" y="4325112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 GPU  ·  Rápido  ·  Serializable con joblib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 · REFLEXIÓN CRÍTICA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2D2D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Limitaciones y mejoras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Limitaciones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45720" cy="47548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27632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Dataset sintético → sin validez clínica real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432304"/>
            <a:ext cx="45720" cy="47548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32304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Modelo caja negra → sin explicabilidad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3236976"/>
            <a:ext cx="45720" cy="47548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236976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 monitorización de drift en producción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34840" y="1143000"/>
            <a:ext cx="0" cy="274320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43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Mejoras previstas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63440" y="1627632"/>
            <a:ext cx="45720" cy="47548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62763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EfficientNetB4 + datos reales (COVIDx)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432304"/>
            <a:ext cx="45720" cy="47548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43230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GradCAM para explicabilidad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236976"/>
            <a:ext cx="45720" cy="47548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23697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Airflow + Grafana para orquestación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315968"/>
            <a:ext cx="8229600" cy="0"/>
          </a:xfrm>
          <a:prstGeom prst="line">
            <a:avLst/>
          </a:prstGeom>
          <a:noFill/>
          <a:ln w="6350">
            <a:solidFill>
              <a:srgbClr val="EBEB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46227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Como Psyduck: el potencial está ahí. Solo necesita las condiciones adecuadas para emerger.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0" y="50292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laSalle Health Center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474720" y="2532888"/>
            <a:ext cx="2194560" cy="0"/>
          </a:xfrm>
          <a:prstGeom prst="line">
            <a:avLst/>
          </a:prstGeom>
          <a:noFill/>
          <a:ln w="19050">
            <a:solidFill>
              <a:srgbClr val="0071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670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Sistema Inteligente de Soporte Hospitalario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2D2D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Programació d'Intel·ligència Artificial  ·  La Salle Barcelona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Inteligente de Soporte Hospitalario</dc:title>
  <dc:subject>PptxGenJS Presentation</dc:subject>
  <dc:creator>laSalle Health Center</dc:creator>
  <cp:lastModifiedBy>laSalle Health Center</cp:lastModifiedBy>
  <cp:revision>1</cp:revision>
  <dcterms:created xsi:type="dcterms:W3CDTF">2026-05-13T08:48:22Z</dcterms:created>
  <dcterms:modified xsi:type="dcterms:W3CDTF">2026-05-13T08:48:22Z</dcterms:modified>
</cp:coreProperties>
</file>